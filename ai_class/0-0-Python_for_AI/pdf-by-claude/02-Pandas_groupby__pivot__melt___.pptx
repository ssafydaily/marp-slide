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판다스에서 표의 모양을 바꾸는 세 함수를 비교합니다. 하나의 판매 데이터로 세 함수가 각각 어떻게 동작하는지 그림으로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챕터로 진행합니다. 먼저 예시 데이터를 보고, 세 함수를 하나씩, 마지막에 비교표로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예제는 이 판매 데이터를 씁니다. 지역과 제품별 매출이 한 줄에 하나씩 쌓인 tidy(long) 형태입니다. 오른쪽은 같은 내용을 넓게 편 형태로, 뒤에서 melt 예제에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함수의 역할을 한 문장으로. groupby는 값을 줄여 요약, pivot은 모양만 넓게 재배치, melt는 넓은 걸 다시 길게. pivot과 melt는 서로 반대 방향입니다.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번째, groupby.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지역끼리 묶어 매출을 더합니다. 서울 100+150=250, 부산 200+120=320. 결과는 지역이 인덱스가 된 Series 한 개. 분리-적용-결합, 즉 split-apply-combine 패턴입니다.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집계 함수는 sum, mean, count 등. as_index=False를 주면 그룹 키가 인덱스가 아니라 일반 열로 남아 DataFrame이 됩니다. agg로는 여러 통계를 한 번에, 열마다 다르게도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 열을 리스트로 주면 여러 열로 동시에 묶습니다. 지역과 제품을 함께 묶으면 조합마다 합계가 나오고, 결과 인덱스가 (region, product) 2단계 MultiIndex가 됩니다. 예시는 같은 조합이 여러 번 기록된 데이터라 합계가 의미 있게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다중 groupby 결과는 (region, product) 2단계 MultiIndex를 가진 Series입니다. reset_index()를 붙이면 인덱스가 일반 열로 내려오고, 0부터 매겨진 새 정수 인덱스가 생기며 전체가 평평한 DataFrame이 됩니다. 이후 필터링·병합·저장이 훨씬 쉬워집니다. as_index=False로 groupby하면 같은 결과를 한 번에 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번째,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열의 값 A, B가 새로운 열 제목이 됩니다. region은 인덱스(행), 셀에는 revenue가 들어갑니다. 값을 계산하는 게 아니라 자리만 재배치하는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index, columns, values 세 가지만 지정하면 됩니다. 단 한 칸에 값이 둘 이상 겹치면 pivot은 에러가 납니다. 그럴 땐 aggfunc으로 집계까지 해주는 pivot_table을 씁니다. 사실상 groupby와 pivot을 합친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pivot은 한 칸에 값이 하나여야 하고, 겹치면 에러가 납니다. pivot_table은 aggfunc으로 그 칸을 집계해 해결합니다. margins=True는 행·열 합계(All)를, fill_value는 빈 칸을 채웁니다. 즉 groupby로 묶어 집계한 뒤 pivot으로 펼친 것과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번째, melt.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넓은 표의 A, B 열 제목이 product라는 한 열의 값으로 내려오고, 그 아래 숫자들은 revenue 한 열로 모입니다. region은 그대로 유지(id_vars). pivot의 정확한 반대 방향입니다.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id_vars는 그대로 남길 식별 열. value_vars는 녹일 열을 고르며, 생략하면 id_vars를 뺀 나머지 전부. var_name과 value_name으로 새로 생기는 두 열의 이름을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value_vars는 녹일 열을 골라 지정합니다. 넓은 표에 A, B, C 세 제품 열이 있을 때 value_vars=['A','B']를 주면 A와 B만 한 열로 녹고, C는 결과에서 빠집니다. id_vars의 region은 그대로 반복됩니다. value_vars를 생략하면 id_vars를 뺀 모든 열이 녹습니다.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groupby는 값을 줄여 요약, 행이 줄어듭니다. pivot은 모양만 재배치, 값 개수 그대로. melt는 다시 길게. pivot과 melt는 서로 되돌리는 관계, pivot_table은 groupby와 pivot을 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세 가지. groupby는 값을 줄이는 집계, pivot과 melt는 값은 그대로 두고 모양만 바꾸며 서로 반대 방향입니다. 값이 겹치면 pivot 대신 pivot_table.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· DATA RESHAPING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1028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204"/>
              </a:lnSpc>
              <a:buNone/>
            </a:pPr>
            <a:r>
              <a:rPr lang="en-US" sz="7800" b="1" spc="-7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변형 3형제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52385" y="2582987"/>
            <a:ext cx="18021508" cy="5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05"/>
              </a:lnSpc>
              <a:buNone/>
            </a:pPr>
            <a:r>
              <a:rPr lang="en-US" sz="39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· pivot · melt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385" y="8697405"/>
            <a:ext cx="8044680" cy="90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데이터를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하고,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재배치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하고, 다시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펼치는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방법을 입력·출력 표로 나란히 비교합니다.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632278" y="9231610"/>
            <a:ext cx="4073625" cy="369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입문 · 판매 데이터 예제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다룰 내용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3525861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385" y="2628772"/>
            <a:ext cx="1219197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51"/>
              </a:lnSpc>
              <a:buNone/>
            </a:pPr>
            <a:r>
              <a:rPr lang="en-US" sz="33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95382" y="2724418"/>
            <a:ext cx="16764211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데이터 살펴보기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52385" y="4687879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385" y="3790790"/>
            <a:ext cx="1219197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51"/>
              </a:lnSpc>
              <a:buNone/>
            </a:pPr>
            <a:r>
              <a:rPr lang="en-US" sz="33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95382" y="3886436"/>
            <a:ext cx="16764211" cy="491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그룹별로 집계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52385" y="5849897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2385" y="4952808"/>
            <a:ext cx="1219197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51"/>
              </a:lnSpc>
              <a:buNone/>
            </a:pPr>
            <a:r>
              <a:rPr lang="en-US" sz="33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95382" y="5048454"/>
            <a:ext cx="16764211" cy="491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긴 표를 넓은 표로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52385" y="7011915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2385" y="6114826"/>
            <a:ext cx="1219197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51"/>
              </a:lnSpc>
              <a:buNone/>
            </a:pPr>
            <a:r>
              <a:rPr lang="en-US" sz="33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95382" y="6210472"/>
            <a:ext cx="16764211" cy="491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넓은 표를 긴 표로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2385" y="7276844"/>
            <a:ext cx="1219197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51"/>
              </a:lnSpc>
              <a:buNone/>
            </a:pPr>
            <a:r>
              <a:rPr lang="en-US" sz="33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095382" y="7372490"/>
            <a:ext cx="16764211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무엇을 쓸까 — 비교표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예시 데이터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판매 데이터로 비교합니다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2571710"/>
            <a:ext cx="4567642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52385" y="2571710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— 긴 형태 (tidy / long)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6732" y="3025621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9307" y="3025621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2302" y="312004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2736238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9233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125959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8954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56732" y="3574635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5927" y="3669055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489307" y="3574635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2302" y="366905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2736238" y="3574635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9233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4125959" y="3574635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8954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56732" y="4123649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5927" y="4218069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89307" y="4123649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12302" y="421806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2736238" y="4123649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9233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4125959" y="412364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8954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56732" y="4672663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5927" y="4767083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489307" y="4672663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12302" y="4767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2736238" y="4672663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59233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4125959" y="467266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48954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956732" y="522167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55927" y="531609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489307" y="522167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12302" y="531609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2736238" y="5221677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59233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4125959" y="522167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48954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2001677" y="2952664"/>
            <a:ext cx="5493915" cy="134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행이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관측값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 열은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(지역),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(제품),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(매출) 세 가지입니다.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12001677" y="4492783"/>
            <a:ext cx="5493915" cy="176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값이 세로로 쌓인 형태를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이라 부르고, 지역·제품이 표의 축으로 펼쳐진 형태를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 부릅니다. 세 함수는 이 둘 사이를 오갑니다.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함수를 한눈에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6396058" y="2533533"/>
            <a:ext cx="17390" cy="702957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385" y="2533533"/>
            <a:ext cx="5568991" cy="569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7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385" y="3236342"/>
            <a:ext cx="5568991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요약한다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52385" y="3845814"/>
            <a:ext cx="5214600" cy="91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그룹별로 묶어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합계·평균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등으로 값을 줄입니다. 행 수가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줄어듭니다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385" y="4986909"/>
            <a:ext cx="5568991" cy="369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여러 행 → 그룹당 한 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57121" y="2533533"/>
            <a:ext cx="17390" cy="702957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94402" y="2533533"/>
            <a:ext cx="5149942" cy="569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7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794402" y="3236342"/>
            <a:ext cx="5149942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재배치한다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94402" y="3845814"/>
            <a:ext cx="4822218" cy="91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열의 값을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열 제목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올려 긴 표를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넓게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폅니다.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794402" y="4986909"/>
            <a:ext cx="5149942" cy="369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→ wide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55465" y="2533533"/>
            <a:ext cx="5588120" cy="569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27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55465" y="3236342"/>
            <a:ext cx="5588120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펼친다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255465" y="3845814"/>
            <a:ext cx="5232512" cy="91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넓은 열들을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열로 녹여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형태로 되돌립니다.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반대입니다.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255465" y="4986909"/>
            <a:ext cx="5588120" cy="369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072"/>
              </a:lnSpc>
              <a:buNone/>
            </a:pPr>
            <a:r>
              <a:rPr lang="en-US" sz="1800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→ long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5935489"/>
            <a:ext cx="18021508" cy="1562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6722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385" y="7630761"/>
            <a:ext cx="18021508" cy="11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52385" y="8972659"/>
            <a:ext cx="11525199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그룹별로 묶어 하나의 값으로 집계하기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GROUPBY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묶어서 하나로 줄인다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4598075" y="2609751"/>
            <a:ext cx="3177921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98075" y="2609751"/>
            <a:ext cx="3273259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02423" y="3063662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4997" y="3063662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992" y="3158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381928" y="3063662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4923" y="3158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602423" y="3612676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1618" y="3707096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134997" y="3612676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992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381928" y="3612676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4923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4602423" y="4161690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1618" y="4256110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134997" y="4161690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992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381928" y="4161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4923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4602423" y="4710704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1618" y="4805124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134997" y="4710704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992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381928" y="4710704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4923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4602423" y="525971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1618" y="535413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5134997" y="525971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992" y="535413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6381928" y="525971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4923" y="535413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076864" y="3645555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37" name="Text 35"/>
          <p:cNvSpPr/>
          <p:nvPr/>
        </p:nvSpPr>
        <p:spPr>
          <a:xfrm>
            <a:off x="8137735" y="4159788"/>
            <a:ext cx="2545064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.groupby('region') ['revenue'].sum()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044537" y="3158765"/>
            <a:ext cx="2645347" cy="210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1044537" y="3158765"/>
            <a:ext cx="2724707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Series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048885" y="3612676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8080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295816" y="3612676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18811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048885" y="4161690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48080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2295816" y="4161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418811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1048885" y="4710704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248080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2295816" y="4710704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418811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33225" y="6232074"/>
            <a:ext cx="18021508" cy="47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끼리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묶고(split)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합계를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적용(apply)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하나로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결합(combine)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그룹 키가 인덱스가 됩니다.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GROUPBY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코드와 주요 옵션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2571710"/>
            <a:ext cx="7924900" cy="44241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185" y="2819360"/>
            <a:ext cx="7553047" cy="39669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지역별 매출 합계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 키를 열로 유지 → DataFrame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as_index=</a:t>
            </a:r>
            <a:pPr algn="l" indent="0" marL="0">
              <a:lnSpc>
                <a:spcPct val="145765"/>
              </a:lnSpc>
              <a:buNone/>
            </a:pPr>
            <a:r>
              <a:rPr lang="en-US" sz="1875" b="1" dirty="0">
                <a:solidFill>
                  <a:srgbClr val="FF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여러 통계를 한 번에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총매출=(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평균=(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'mean'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410674" y="3362556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0674" y="25717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/ 첫 인자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6141" y="2580405"/>
            <a:ext cx="5180316" cy="68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묶을 기준 열. 리스트로 주면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['region','product']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그룹.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10674" y="4305702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10674" y="3523551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집계 함수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141" y="3523551"/>
            <a:ext cx="5180316" cy="68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 .mean() .count() .max()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등으로 그룹 값을 하나로.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674" y="4954302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10674" y="4466697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as_index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06141" y="4466697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 그룹 키를 인덱스가 아닌 일반 열로 유지.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10674" y="5602902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10674" y="5115297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.agg()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06141" y="5123992"/>
            <a:ext cx="5532376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통계를 동시에, 열마다 다른 집계도 지정.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GROUPBY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열로 한 번에 묶기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2823596" y="2571710"/>
            <a:ext cx="4567642" cy="43013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823596" y="2571710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— 여러 번 기록된 매출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7944" y="3025621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60518" y="3025621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514" y="312004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607449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0444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997170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0165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2827944" y="3574635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7139" y="3669055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3360518" y="3574635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514" y="366905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4607449" y="3574635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0444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997170" y="3574635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0165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2827944" y="4123649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7139" y="4218069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3360518" y="4123649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514" y="421806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4607449" y="4123649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0444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997170" y="412364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0165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2827944" y="4672663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7139" y="4767083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3360518" y="4672663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514" y="4767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4607449" y="4672663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0444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5997170" y="467266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0165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2827944" y="522167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7139" y="531609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3360518" y="522167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83514" y="531609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4607449" y="5221677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0444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5997170" y="522167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0165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2827944" y="5770690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27139" y="5865110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3360518" y="5770690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83514" y="5865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4607449" y="5770690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0444" y="5865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5997170" y="5770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0165" y="5865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2827944" y="6319704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27139" y="6414124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3360518" y="6319704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83514" y="6414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4607449" y="6319704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0444" y="6414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5997170" y="6319704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0165" y="6414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875" dirty="0"/>
          </a:p>
        </p:txBody>
      </p:sp>
      <p:sp>
        <p:nvSpPr>
          <p:cNvPr id="62" name="Text 60"/>
          <p:cNvSpPr/>
          <p:nvPr/>
        </p:nvSpPr>
        <p:spPr>
          <a:xfrm>
            <a:off x="9076864" y="4002189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63" name="Text 61"/>
          <p:cNvSpPr/>
          <p:nvPr/>
        </p:nvSpPr>
        <p:spPr>
          <a:xfrm>
            <a:off x="7742501" y="4516423"/>
            <a:ext cx="3335531" cy="96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.groupby(['region', 'product'])['revenue'].sum()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1429295" y="3120724"/>
            <a:ext cx="4035068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1429295" y="3120724"/>
            <a:ext cx="4156120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MultiIndex Series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1433643" y="3574635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632838" y="366905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2680574" y="3574635"/>
            <a:ext cx="138972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879769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4070295" y="3574635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93290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1433643" y="4123649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632838" y="421806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2680574" y="4123649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879769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14070295" y="412364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193290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11433643" y="4672663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632838" y="4767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12680574" y="4672663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879769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14070295" y="467266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4193290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1433643" y="5221677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632838" y="531609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86" name="Shape 84"/>
          <p:cNvSpPr/>
          <p:nvPr/>
        </p:nvSpPr>
        <p:spPr>
          <a:xfrm>
            <a:off x="12680574" y="5221677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2879769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88" name="Shape 86"/>
          <p:cNvSpPr/>
          <p:nvPr/>
        </p:nvSpPr>
        <p:spPr>
          <a:xfrm>
            <a:off x="14070295" y="522167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193290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1875" dirty="0"/>
          </a:p>
        </p:txBody>
      </p:sp>
      <p:sp>
        <p:nvSpPr>
          <p:cNvPr id="90" name="Shape 88"/>
          <p:cNvSpPr/>
          <p:nvPr/>
        </p:nvSpPr>
        <p:spPr>
          <a:xfrm>
            <a:off x="11433643" y="5770690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632838" y="5865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92" name="Shape 90"/>
          <p:cNvSpPr/>
          <p:nvPr/>
        </p:nvSpPr>
        <p:spPr>
          <a:xfrm>
            <a:off x="12680574" y="5770690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879769" y="5865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94" name="Shape 92"/>
          <p:cNvSpPr/>
          <p:nvPr/>
        </p:nvSpPr>
        <p:spPr>
          <a:xfrm>
            <a:off x="14070295" y="5770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4193290" y="5865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96" name="Text 94"/>
          <p:cNvSpPr/>
          <p:nvPr/>
        </p:nvSpPr>
        <p:spPr>
          <a:xfrm>
            <a:off x="706637" y="7254019"/>
            <a:ext cx="16874685" cy="90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기준을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['region', 'product']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리스트로 주면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조합별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묶입니다. 인덱스가 2단계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MultiIndex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되고,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.reset_index()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다시 일반 열로 펼 수 있습니다.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GROUPBY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MultiIndex를 평평하게 — reset_index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482657" y="2571710"/>
            <a:ext cx="4035068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82657" y="2571710"/>
            <a:ext cx="4156120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 — MultiIndex Series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87005" y="3025621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6200" y="312004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733936" y="3025621"/>
            <a:ext cx="138972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3131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123656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6652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3487005" y="3574635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6200" y="366905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733936" y="3574635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3131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123656" y="3574635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6652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3487005" y="4123649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6200" y="421806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733936" y="4123649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3131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123656" y="412364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6652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3487005" y="4672663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86200" y="4767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4733936" y="4672663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3131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6123656" y="467266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6652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3487005" y="5221677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6200" y="531609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4733936" y="5221677"/>
            <a:ext cx="138972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3131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123656" y="522167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6652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8544290" y="3761851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38" name="Text 36"/>
          <p:cNvSpPr/>
          <p:nvPr/>
        </p:nvSpPr>
        <p:spPr>
          <a:xfrm>
            <a:off x="7821550" y="4276085"/>
            <a:ext cx="2112283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.reset_index()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237659" y="2571710"/>
            <a:ext cx="4567642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0237659" y="2571710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평평한 DataFrame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242007" y="3025621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74582" y="3025621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97577" y="312004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2021513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144508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3411234" y="3025621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534229" y="312004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0242007" y="3574635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41202" y="3669055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0774582" y="3574635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97577" y="366905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2021513" y="3574635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144508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411234" y="3574635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534229" y="3669055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0242007" y="4123649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41202" y="4218069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0774582" y="4123649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97577" y="421806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2021513" y="4123649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144508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3411234" y="412364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34229" y="421806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0242007" y="4672663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441202" y="4767083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0774582" y="4672663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97577" y="4767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2021513" y="4672663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144508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3411234" y="467266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534229" y="4767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0242007" y="522167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441202" y="531609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0774582" y="522167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97577" y="531609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12021513" y="5221677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2144508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13411234" y="522167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534229" y="531609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80" name="Text 78"/>
          <p:cNvSpPr/>
          <p:nvPr/>
        </p:nvSpPr>
        <p:spPr>
          <a:xfrm>
            <a:off x="706637" y="6155992"/>
            <a:ext cx="16874685" cy="91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reset_index()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인덱스를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열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내리고 0부터의 새 정수 인덱스를 붙여, 필터·병합·저장이 쉬운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납작한 표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만듭니다.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groupby(..., as_index=False)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 한 번에 같은 결과.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5935489"/>
            <a:ext cx="18021508" cy="1562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6722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385" y="7630761"/>
            <a:ext cx="18021508" cy="11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52385" y="8972659"/>
            <a:ext cx="11525199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열의 값을 열 제목으로 올려 넓게 펴기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PIVOT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값을 열 제목으로 올린다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505482" y="2609751"/>
            <a:ext cx="4567642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505482" y="2609751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— long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09829" y="3063662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2404" y="3063662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5399" y="3158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289335" y="3063662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2330" y="3158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79056" y="3063662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02051" y="3158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509829" y="3612676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9024" y="3707096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042404" y="3612676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5399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5289335" y="3612676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2330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679056" y="3612676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2051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3509829" y="4161690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9024" y="4256110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4042404" y="4161690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5399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289335" y="4161690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2330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679056" y="4161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2051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3509829" y="4710704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9024" y="4805124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4042404" y="4710704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5399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289335" y="4710704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2330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6679056" y="4710704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2051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3509829" y="525971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9024" y="535413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4042404" y="525971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5399" y="535413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289335" y="5259717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2330" y="535413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6679056" y="525971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2051" y="535413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9648295" y="3491217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47" name="Text 45"/>
          <p:cNvSpPr/>
          <p:nvPr/>
        </p:nvSpPr>
        <p:spPr>
          <a:xfrm>
            <a:off x="8427700" y="4005450"/>
            <a:ext cx="3107994" cy="96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.pivot(index='region', columns='product', values='revenue')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890271" y="3158765"/>
            <a:ext cx="2892206" cy="210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1890271" y="3158765"/>
            <a:ext cx="2978972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wide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894618" y="3612676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093813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3141549" y="3612676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264544" y="370709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959840" y="3612676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082835" y="370709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894618" y="4161690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093813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3141549" y="4161690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264544" y="4256110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3959840" y="4161690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082835" y="4256110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1894618" y="4710704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093813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3141549" y="4710704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264544" y="4805124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3959840" y="4710704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082835" y="4805124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133225" y="6232074"/>
            <a:ext cx="18021508" cy="47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값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A·B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열이 되고,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행이 됩니다. 값은 그대로 —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모양만 넓게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바뀝니다.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PIVOT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코드와 주요 옵션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2571710"/>
            <a:ext cx="7924900" cy="44241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185" y="2819360"/>
            <a:ext cx="7553047" cy="39669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긴 표 → 넓은 표 (재배치)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(index=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columns=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values=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 칸에 값이 겹치면?# → 집계까지 해주는 pivot_table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(index=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columns=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values=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aggfunc=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410674" y="3059315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0674" y="25717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6141" y="2580405"/>
            <a:ext cx="5532376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행(세로 축)이 될 열.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10674" y="3707915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10674" y="32203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141" y="3220310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열의 값들이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열 제목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펼쳐짐.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674" y="4356514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10674" y="38689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06141" y="3877605"/>
            <a:ext cx="5532376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채울 값이 담긴 열.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10674" y="5308356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10674" y="4517509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06141" y="4517509"/>
            <a:ext cx="5180316" cy="695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칸에 값이 여러 개면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aggfunc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집계.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+ pivot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PIVOT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겹칠 땐 pivot_table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894044" y="2533533"/>
            <a:ext cx="4567642" cy="37523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894044" y="2533533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— 한 칸에 값이 여럿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98392" y="2987444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0966" y="2987444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961" y="308186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5677897" y="2987444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0892" y="308186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067618" y="2987444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0613" y="308186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898392" y="3536458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7587" y="3630878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430966" y="3536458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961" y="3630878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5677897" y="3536458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0892" y="3630878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067618" y="3536458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0613" y="3630878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3898392" y="4085472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7587" y="4179892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4430966" y="4085472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961" y="417989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677897" y="4085472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0892" y="417989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067618" y="4085472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0613" y="4179892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3898392" y="4634486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97587" y="4728906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4430966" y="4634486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961" y="472890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677897" y="4634486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0892" y="472890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067618" y="4634486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0613" y="472890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3898392" y="5183499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97587" y="5277919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4430966" y="5183499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53961" y="527791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677897" y="5183499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0892" y="527791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7067618" y="5183499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0613" y="5277919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3898392" y="5732513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97587" y="5826934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4430966" y="5732513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53961" y="582693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677897" y="5732513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0892" y="582693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7067618" y="5732513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90613" y="582693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9648295" y="3843911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55" name="Text 53"/>
          <p:cNvSpPr/>
          <p:nvPr/>
        </p:nvSpPr>
        <p:spPr>
          <a:xfrm>
            <a:off x="8823425" y="4358145"/>
            <a:ext cx="231654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aggfunc='sum' 으로 겹친 칸을 집계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1501708" y="3356986"/>
            <a:ext cx="2892206" cy="210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1501708" y="3356986"/>
            <a:ext cx="2978972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집계 후 재배치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1506057" y="3810897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705252" y="390531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2752988" y="3810897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875983" y="3905317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3571277" y="3810897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694273" y="3905317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1506057" y="4359911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05252" y="4454331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2752988" y="4359911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875983" y="4454331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3571277" y="4359911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694273" y="4454331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1506057" y="4908925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705252" y="5003345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2752988" y="4908925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875983" y="5003345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3571277" y="4908925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694273" y="5003345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952385" y="6628651"/>
            <a:ext cx="7924900" cy="2459625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77" name="Text 75"/>
          <p:cNvSpPr/>
          <p:nvPr/>
        </p:nvSpPr>
        <p:spPr>
          <a:xfrm>
            <a:off x="1257185" y="6876301"/>
            <a:ext cx="7553047" cy="200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Seoul·A 칸의 100+60을 sum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(index=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columns=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values=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aggfunc=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margins=</a:t>
            </a:r>
            <a:pPr algn="l" indent="0" marL="0">
              <a:lnSpc>
                <a:spcPct val="145765"/>
              </a:lnSpc>
              <a:buNone/>
            </a:pPr>
            <a:r>
              <a:rPr lang="en-US" sz="1875" b="1" dirty="0">
                <a:solidFill>
                  <a:srgbClr val="FF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fill_value=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BC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9410674" y="7419497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9410674" y="6628651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aggfunc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12306141" y="6628651"/>
            <a:ext cx="5180316" cy="695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겹친 값을 어떻게 합칠지.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 'mean' 'count'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등, 기본은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9410674" y="8068097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9410674" y="7580493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margins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2306141" y="7580493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 행·열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총합(All)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줄을 추가.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410674" y="8716697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9410674" y="8229092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fill_value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2306141" y="8229092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조합이 없어 빈 칸을 채울 값(예: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5935489"/>
            <a:ext cx="18021508" cy="1562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6722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385" y="7630761"/>
            <a:ext cx="18021508" cy="11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535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52385" y="8972659"/>
            <a:ext cx="11525199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넓은 열들을 한 열로 녹여 다시 길게 펴기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 제목을 값으로 녹인다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436872" y="3158765"/>
            <a:ext cx="2892206" cy="210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36872" y="3158765"/>
            <a:ext cx="2978972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— 넓은 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41220" y="3612676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40415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688151" y="3612676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1146" y="370709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506441" y="3612676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9436" y="370709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3441220" y="4161690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0415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4688151" y="4161690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1146" y="4256110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506441" y="4161690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9436" y="4256110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3441220" y="4710704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0415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4688151" y="4710704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1146" y="4805124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5506441" y="4710704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9436" y="4805124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7972859" y="3491217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26" name="Text 24"/>
          <p:cNvSpPr/>
          <p:nvPr/>
        </p:nvSpPr>
        <p:spPr>
          <a:xfrm>
            <a:off x="6681596" y="4005450"/>
            <a:ext cx="3249330" cy="964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.melt(id_vars='region', var_name='product', value_name='revenue')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283444" y="2609751"/>
            <a:ext cx="4567642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3444" y="2609751"/>
            <a:ext cx="4704671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long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287792" y="3063662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20366" y="3063662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43361" y="3158083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2067297" y="3063662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90292" y="3158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3457018" y="3063662"/>
            <a:ext cx="138972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80013" y="3158083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287792" y="3612676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6987" y="3707096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0820366" y="3612676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43361" y="370709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067297" y="3612676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190292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3457018" y="3612676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80013" y="3707096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0287792" y="4161690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6987" y="4256110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0820366" y="4161690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43361" y="4256110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2067297" y="4161690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190292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3457018" y="4161690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80013" y="4256110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0287792" y="4710704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86987" y="4805124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0820366" y="4710704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43361" y="480512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2067297" y="4710704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190292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3457018" y="4710704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580013" y="4805124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0287792" y="5259717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86987" y="5354137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0820366" y="5259717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43361" y="5354137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2067297" y="5259717"/>
            <a:ext cx="1389721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190292" y="535413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3457018" y="5259717"/>
            <a:ext cx="1389721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580013" y="5354137"/>
            <a:ext cx="106753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133225" y="6232074"/>
            <a:ext cx="18021508" cy="47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 이름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A·B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열의 값으로, 숫자는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열로 모입니다 —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반대.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코드와 주요 옵션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2571710"/>
            <a:ext cx="7924900" cy="363835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6" name="Text 4"/>
          <p:cNvSpPr/>
          <p:nvPr/>
        </p:nvSpPr>
        <p:spPr>
          <a:xfrm>
            <a:off x="1257185" y="2819360"/>
            <a:ext cx="7553047" cy="318115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넓은 표 → 긴 표 (펼치기)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wide.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FF97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id_vars=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'region'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value_vars=[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var_name=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'product'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value_name= </a:t>
            </a:r>
            <a:endParaRPr lang="en-US" sz="1875" dirty="0"/>
          </a:p>
          <a:p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FD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'revenue'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E8E6E6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algn="l" indent="0" marL="0">
              <a:lnSpc>
                <a:spcPct val="145765"/>
              </a:lnSpc>
              <a:buNone/>
            </a:pPr>
            <a:r>
              <a:rPr lang="en-US" sz="1875" dirty="0">
                <a:solidFill>
                  <a:srgbClr val="9B9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value_vars 생략 시# id_vars 외 모든 열이 녹음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410674" y="3059315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10674" y="25717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06141" y="2571710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식별 열(예: region).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10674" y="3707915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10674" y="32203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value_vars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141" y="3220310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열로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녹일 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열들. 생략하면 나머지 전부.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674" y="4356514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10674" y="3868910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var_name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06141" y="3868910"/>
            <a:ext cx="5532376" cy="36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옛 열 이름이 들어갈 </a:t>
            </a:r>
            <a:pPr algn="l" indent="0" marL="0">
              <a:lnSpc>
                <a:spcPct val="118732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열</a:t>
            </a:r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이름.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10674" y="5005114"/>
            <a:ext cx="79249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410674" y="4517509"/>
            <a:ext cx="2933644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value_name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06141" y="4526205"/>
            <a:ext cx="5532376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32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들어갈 새 열의 이름.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MELT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value_vars로 녹일 열 고르기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3170449" y="3082547"/>
            <a:ext cx="3567706" cy="210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170449" y="3082547"/>
            <a:ext cx="3674738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— 제품 A·B·C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74797" y="3536458"/>
            <a:ext cx="1246931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3992" y="3630878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421727" y="3536458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723" y="3630878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240017" y="3536458"/>
            <a:ext cx="81829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3012" y="3630878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058308" y="3536458"/>
            <a:ext cx="675500" cy="549014"/>
          </a:xfrm>
          <a:prstGeom prst="rect">
            <a:avLst/>
          </a:prstGeom>
          <a:solidFill>
            <a:srgbClr val="D7D3D3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03" y="3630878"/>
            <a:ext cx="35331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3174797" y="4085472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3992" y="417989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4421727" y="4085472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723" y="4179892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240017" y="4085472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3012" y="4179892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058308" y="4085472"/>
            <a:ext cx="67550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03" y="4179892"/>
            <a:ext cx="35331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174797" y="4634486"/>
            <a:ext cx="1246931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3992" y="472890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421727" y="4634486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723" y="472890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5240017" y="4634486"/>
            <a:ext cx="81829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3012" y="4728906"/>
            <a:ext cx="49610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6058308" y="4634486"/>
            <a:ext cx="675500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03" y="4728906"/>
            <a:ext cx="353310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8381936" y="3569336"/>
            <a:ext cx="743005" cy="43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2283"/>
              </a:lnSpc>
              <a:buNone/>
            </a:pPr>
            <a:r>
              <a:rPr lang="en-US" sz="525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250" dirty="0"/>
          </a:p>
        </p:txBody>
      </p:sp>
      <p:sp>
        <p:nvSpPr>
          <p:cNvPr id="32" name="Text 30"/>
          <p:cNvSpPr/>
          <p:nvPr/>
        </p:nvSpPr>
        <p:spPr>
          <a:xfrm>
            <a:off x="7090674" y="4083570"/>
            <a:ext cx="3249330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08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.melt(id_vars='region', value_vars=['A','B'])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92522" y="2533533"/>
            <a:ext cx="4424852" cy="3203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692522" y="2533533"/>
            <a:ext cx="4557598" cy="39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835"/>
              </a:lnSpc>
              <a:buNone/>
            </a:pPr>
            <a:r>
              <a:rPr lang="en-US" sz="1800" b="1" dirty="0">
                <a:solidFill>
                  <a:srgbClr val="7D79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 — A·B만 녹음 (C 제외)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696869" y="2987444"/>
            <a:ext cx="532575" cy="549014"/>
          </a:xfrm>
          <a:prstGeom prst="rect">
            <a:avLst/>
          </a:prstGeom>
          <a:solidFill>
            <a:srgbClr val="605D5D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29444" y="2987444"/>
            <a:ext cx="1246931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352439" y="3081864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2476375" y="2987444"/>
            <a:ext cx="1532646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99370" y="3081864"/>
            <a:ext cx="1210456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4009020" y="2987444"/>
            <a:ext cx="1104005" cy="549014"/>
          </a:xfrm>
          <a:prstGeom prst="rect">
            <a:avLst/>
          </a:prstGeom>
          <a:solidFill>
            <a:srgbClr val="2D2B2B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132016" y="3081864"/>
            <a:ext cx="781815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0696869" y="3536458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96064" y="3630878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229444" y="3536458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352439" y="3630878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2476375" y="3536458"/>
            <a:ext cx="1532646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599370" y="3630878"/>
            <a:ext cx="1210456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4009020" y="3536458"/>
            <a:ext cx="1104005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132016" y="3630878"/>
            <a:ext cx="781815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0696869" y="4085472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96064" y="4179892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229444" y="4085472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352439" y="4179892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2476375" y="4085472"/>
            <a:ext cx="1532646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599370" y="4179892"/>
            <a:ext cx="1210456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4009020" y="4085472"/>
            <a:ext cx="1104005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132016" y="4179892"/>
            <a:ext cx="781815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0696869" y="4634486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96064" y="4728906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1229444" y="4634486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52439" y="4728906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Seoul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2476375" y="4634486"/>
            <a:ext cx="1532646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599370" y="4728906"/>
            <a:ext cx="1210456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4009020" y="4634486"/>
            <a:ext cx="1104005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132016" y="4728906"/>
            <a:ext cx="781815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10696869" y="5183499"/>
            <a:ext cx="532575" cy="549014"/>
          </a:xfrm>
          <a:prstGeom prst="rect">
            <a:avLst/>
          </a:prstGeom>
          <a:solidFill>
            <a:srgbClr val="EAE7E7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96064" y="5277919"/>
            <a:ext cx="210384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1229444" y="5183499"/>
            <a:ext cx="1246931" cy="549014"/>
          </a:xfrm>
          <a:prstGeom prst="rect">
            <a:avLst/>
          </a:prstGeom>
          <a:solidFill>
            <a:srgbClr val="FFF2E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352439" y="5277919"/>
            <a:ext cx="924741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Busan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2476375" y="5183499"/>
            <a:ext cx="1532646" cy="549014"/>
          </a:xfrm>
          <a:prstGeom prst="rect">
            <a:avLst/>
          </a:prstGeom>
          <a:solidFill>
            <a:srgbClr val="F8F4F4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599370" y="5277919"/>
            <a:ext cx="1210456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4009020" y="5183499"/>
            <a:ext cx="1104005" cy="549014"/>
          </a:xfrm>
          <a:prstGeom prst="rect">
            <a:avLst/>
          </a:prstGeom>
          <a:solidFill>
            <a:srgbClr val="FFFFFF"/>
          </a:solidFill>
          <a:ln w="8695">
            <a:solidFill>
              <a:srgbClr val="BAB6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132016" y="5277919"/>
            <a:ext cx="781815" cy="39827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lnSpc>
                <a:spcPct val="136931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875" dirty="0"/>
          </a:p>
        </p:txBody>
      </p:sp>
      <p:sp>
        <p:nvSpPr>
          <p:cNvPr id="74" name="Text 72"/>
          <p:cNvSpPr/>
          <p:nvPr/>
        </p:nvSpPr>
        <p:spPr>
          <a:xfrm>
            <a:off x="706637" y="6117814"/>
            <a:ext cx="16874685" cy="91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value_vars=['A','B']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고른 열만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녹고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결과에서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빠집니다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생략하면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id_vars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뺀 </a:t>
            </a:r>
            <a:pPr algn="ctr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열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녹습니다. (열 이름을 안 주면 기본 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· value</a:t>
            </a:r>
            <a:pPr algn="ctr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무엇을 쓸까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3163248"/>
            <a:ext cx="2343192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6" name="Shape 4"/>
          <p:cNvSpPr/>
          <p:nvPr/>
        </p:nvSpPr>
        <p:spPr>
          <a:xfrm>
            <a:off x="952385" y="2389928"/>
            <a:ext cx="2343192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7" name="Text 5"/>
          <p:cNvSpPr/>
          <p:nvPr/>
        </p:nvSpPr>
        <p:spPr>
          <a:xfrm>
            <a:off x="1180985" y="2616869"/>
            <a:ext cx="1962192" cy="374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14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5577" y="3163248"/>
            <a:ext cx="2857426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Shape 7"/>
          <p:cNvSpPr/>
          <p:nvPr/>
        </p:nvSpPr>
        <p:spPr>
          <a:xfrm>
            <a:off x="3295577" y="2389928"/>
            <a:ext cx="2857426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0" name="Text 8"/>
          <p:cNvSpPr/>
          <p:nvPr/>
        </p:nvSpPr>
        <p:spPr>
          <a:xfrm>
            <a:off x="3524177" y="2616869"/>
            <a:ext cx="2485948" cy="374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14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53002" y="3163248"/>
            <a:ext cx="8134669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3002" y="2389928"/>
            <a:ext cx="8134669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3" name="Text 11"/>
          <p:cNvSpPr/>
          <p:nvPr/>
        </p:nvSpPr>
        <p:spPr>
          <a:xfrm>
            <a:off x="6381602" y="2616869"/>
            <a:ext cx="7921509" cy="374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14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이럴 때 쓴다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287672" y="3163248"/>
            <a:ext cx="3047903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287672" y="2389928"/>
            <a:ext cx="3047903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16" name="Text 14"/>
          <p:cNvSpPr/>
          <p:nvPr/>
        </p:nvSpPr>
        <p:spPr>
          <a:xfrm>
            <a:off x="14516272" y="2616869"/>
            <a:ext cx="2682140" cy="374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14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모양 변화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385" y="3180639"/>
            <a:ext cx="2343192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0985" y="3407579"/>
            <a:ext cx="1962192" cy="923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3295577" y="3180639"/>
            <a:ext cx="2857426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24177" y="3407579"/>
            <a:ext cx="2485948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그룹별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집계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(합계·평균 등)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153002" y="3180639"/>
            <a:ext cx="8134669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81602" y="3407579"/>
            <a:ext cx="7921509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“지역별 총매출”처럼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숫자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필요할 때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4287672" y="3180639"/>
            <a:ext cx="3047903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516272" y="3407579"/>
            <a:ext cx="2682140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행 수 ↓ 값이 줄어듦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385" y="4502565"/>
            <a:ext cx="2343192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80985" y="4729505"/>
            <a:ext cx="1962192" cy="923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3295577" y="4502565"/>
            <a:ext cx="2857426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4177" y="4729505"/>
            <a:ext cx="2485948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값을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 제목으로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재배치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6153002" y="4502565"/>
            <a:ext cx="8134669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81602" y="4729505"/>
            <a:ext cx="7921509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교차표·행렬처럼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 좋게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넓게 펼 때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4287672" y="4502565"/>
            <a:ext cx="3047903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516272" y="4729505"/>
            <a:ext cx="2682140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→ wide 값 개수 그대로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52385" y="5824491"/>
            <a:ext cx="2343192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80985" y="6051431"/>
            <a:ext cx="1962192" cy="9235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3295577" y="5824491"/>
            <a:ext cx="2857426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524177" y="6051431"/>
            <a:ext cx="2485948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넓은 열을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열로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녹임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6153002" y="5824491"/>
            <a:ext cx="8134669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81602" y="6051431"/>
            <a:ext cx="7921509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분석·그래프용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형태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되돌릴 때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4287672" y="5824491"/>
            <a:ext cx="3047903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4516272" y="6051431"/>
            <a:ext cx="2682140" cy="923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→ long 값 개수 그대로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52385" y="7146417"/>
            <a:ext cx="2343192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80985" y="7373357"/>
            <a:ext cx="1962192" cy="9148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3295577" y="7146417"/>
            <a:ext cx="2857426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524177" y="7373357"/>
            <a:ext cx="2485948" cy="91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재배치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집계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6153002" y="7146417"/>
            <a:ext cx="8134669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381602" y="7373357"/>
            <a:ext cx="7921509" cy="91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칸에 값이 </a:t>
            </a:r>
            <a:pPr algn="l" indent="0" marL="0">
              <a:lnSpc>
                <a:spcPct val="13404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</a:t>
            </a:r>
            <a:pPr algn="l" indent="0" marL="0">
              <a:lnSpc>
                <a:spcPct val="13404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겹칠 때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4287672" y="7146417"/>
            <a:ext cx="3047903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4516272" y="7373357"/>
            <a:ext cx="2682140" cy="914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671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+ pivot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38126"/>
            <a:ext cx="18021508" cy="39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137"/>
              </a:lnSpc>
              <a:buNone/>
            </a:pPr>
            <a:r>
              <a:rPr lang="en-US" sz="1800" b="1" spc="252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385" y="1325730"/>
            <a:ext cx="1802150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14"/>
              </a:lnSpc>
              <a:buNone/>
            </a:pPr>
            <a:r>
              <a:rPr lang="en-US" sz="4500" b="1" spc="-45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173366"/>
            <a:ext cx="16383190" cy="1739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5" name="Shape 3"/>
          <p:cNvSpPr/>
          <p:nvPr/>
        </p:nvSpPr>
        <p:spPr>
          <a:xfrm>
            <a:off x="952385" y="3581157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385" y="2704990"/>
            <a:ext cx="685672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7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551" y="2704990"/>
            <a:ext cx="17057726" cy="492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값을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줄여 요약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 — 그룹별 합계·평균. 행 수가 줄어듭니다.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385" y="4760429"/>
            <a:ext cx="16383190" cy="1739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385" y="3884262"/>
            <a:ext cx="685672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7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551" y="3884262"/>
            <a:ext cx="17057726" cy="492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값은 그대로,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모양만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바꿉니다. long↔wide로 서로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 방향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52385" y="5063535"/>
            <a:ext cx="685672" cy="62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07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28551" y="5063535"/>
            <a:ext cx="17057726" cy="483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칸에 값이 겹치면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대신 </a:t>
            </a:r>
            <a:pPr algn="l" indent="0" marL="0">
              <a:lnSpc>
                <a:spcPct val="129724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pivot_table </a:t>
            </a:r>
            <a:pPr algn="l" indent="0" marL="0">
              <a:lnSpc>
                <a:spcPct val="129724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재배치와 집계를 함께.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52385" y="9109335"/>
            <a:ext cx="18021508" cy="491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요약은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모양 바꾸기는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AE1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</a:t>
            </a:r>
            <a:pPr algn="l" indent="0" marL="0">
              <a:lnSpc>
                <a:spcPct val="96399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2026-08-04T01:45:07Z</dcterms:created>
  <dcterms:modified xsi:type="dcterms:W3CDTF">2026-08-04T01:45:07Z</dcterms:modified>
</cp:coreProperties>
</file>