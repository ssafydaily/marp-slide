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0000"/>
          </a:xfrm>
          <a:prstGeom prst="rect">
            <a:avLst/>
          </a:prstGeom>
          <a:solidFill>
            <a:srgbClr val="19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OpenAI API의 진화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31520"/>
            <a:ext cx="11155680" cy="539496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/>
            </a:pPr>
            <a:r>
              <a:t>• Chat Completions API는 대화 중심 인터페이스였습니다.</a:t>
            </a:r>
          </a:p>
          <a:p>
            <a:pPr>
              <a:defRPr sz="2200"/>
            </a:pPr>
            <a:r>
              <a:t>• Responses API는 텍스트, 이미지, 파일, 도구 호출을 하나의 API로 통합합니다.</a:t>
            </a:r>
          </a:p>
          <a:p>
            <a:pPr>
              <a:defRPr sz="2200"/>
            </a:pPr>
            <a:r>
              <a:t>• GPT‑5부터는 Responses API 사용이 권장됩니다.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0000"/>
          </a:xfrm>
          <a:prstGeom prst="rect">
            <a:avLst/>
          </a:prstGeom>
          <a:solidFill>
            <a:srgbClr val="19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학습 목표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31520"/>
            <a:ext cx="11155680" cy="539496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/>
            </a:pPr>
            <a:r>
              <a:t>• Chat Completions와 Responses API의 차이를 설명할 수 있다.</a:t>
            </a:r>
          </a:p>
          <a:p>
            <a:pPr>
              <a:defRPr sz="2200"/>
            </a:pPr>
            <a:r>
              <a:t>• 기존 코드를 최신 방식으로 변환할 수 있다.</a:t>
            </a:r>
          </a:p>
          <a:p>
            <a:pPr>
              <a:defRPr sz="2200"/>
            </a:pPr>
            <a:r>
              <a:t>• Tools와 멀티모달 입력을 이해한다.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0000"/>
          </a:xfrm>
          <a:prstGeom prst="rect">
            <a:avLst/>
          </a:prstGeom>
          <a:solidFill>
            <a:srgbClr val="19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API 발전 과정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31520"/>
            <a:ext cx="11155680" cy="539496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/>
            </a:pPr>
            <a:r>
              <a:t>2023 : Chat Completions</a:t>
            </a:r>
          </a:p>
          <a:p>
            <a:pPr>
              <a:defRPr sz="2200"/>
            </a:pPr>
            <a:r>
              <a:t>- messages 기반</a:t>
            </a:r>
          </a:p>
          <a:p>
            <a:pPr>
              <a:defRPr sz="2200"/>
            </a:pPr>
            <a:r>
              <a:t>2024 : GPT‑4o</a:t>
            </a:r>
          </a:p>
          <a:p>
            <a:pPr>
              <a:defRPr sz="2200"/>
            </a:pPr>
            <a:r>
              <a:t>- 멀티모달 확대</a:t>
            </a:r>
          </a:p>
          <a:p>
            <a:pPr>
              <a:defRPr sz="2200"/>
            </a:pPr>
            <a:r>
              <a:t>2025~ : Responses API</a:t>
            </a:r>
          </a:p>
          <a:p>
            <a:pPr>
              <a:defRPr sz="2200"/>
            </a:pPr>
            <a:r>
              <a:t>- input/output_text</a:t>
            </a:r>
          </a:p>
          <a:p>
            <a:pPr>
              <a:defRPr sz="2200"/>
            </a:pPr>
            <a:r>
              <a:t>- Tools 통합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0000"/>
          </a:xfrm>
          <a:prstGeom prst="rect">
            <a:avLst/>
          </a:prstGeom>
          <a:solidFill>
            <a:srgbClr val="19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요청 구조 비교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31520"/>
            <a:ext cx="11155680" cy="539496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/>
            </a:pPr>
            <a:r>
              <a:t>Legacy</a:t>
            </a:r>
          </a:p>
          <a:p>
            <a:pPr>
              <a:defRPr sz="2200"/>
            </a:pPr>
            <a:r>
              <a:t>messages=[{role,content}]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Current</a:t>
            </a:r>
          </a:p>
          <a:p>
            <a:pPr>
              <a:defRPr sz="2200"/>
            </a:pPr>
            <a:r>
              <a:t>input=[{role,content:[{type:'input_text',text:'...'}]}]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※ 이미지와 파일도 동일한 구조로 전달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0000"/>
          </a:xfrm>
          <a:prstGeom prst="rect">
            <a:avLst/>
          </a:prstGeom>
          <a:solidFill>
            <a:srgbClr val="19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응답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31520"/>
            <a:ext cx="11155680" cy="539496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/>
            </a:pPr>
            <a:r>
              <a:t>Legacy</a:t>
            </a:r>
          </a:p>
          <a:p>
            <a:pPr>
              <a:defRPr sz="2200"/>
            </a:pPr>
            <a:r>
              <a:t>response.choices[0].message.content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Current</a:t>
            </a:r>
          </a:p>
          <a:p>
            <a:pPr>
              <a:defRPr sz="2200"/>
            </a:pPr>
            <a:r>
              <a:t>response.output_text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출력 접근 코드가 훨씬 단순해졌습니다.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0000"/>
          </a:xfrm>
          <a:prstGeom prst="rect">
            <a:avLst/>
          </a:prstGeom>
          <a:solidFill>
            <a:srgbClr val="19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멀티모달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31520"/>
            <a:ext cx="11155680" cy="539496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/>
            </a:pPr>
            <a:r>
              <a:t>동일한 요청 안에서</a:t>
            </a:r>
          </a:p>
          <a:p>
            <a:pPr>
              <a:defRPr sz="2200"/>
            </a:pPr>
            <a:r>
              <a:t>• 텍스트</a:t>
            </a:r>
          </a:p>
          <a:p>
            <a:pPr>
              <a:defRPr sz="2200"/>
            </a:pPr>
            <a:r>
              <a:t>• 이미지</a:t>
            </a:r>
          </a:p>
          <a:p>
            <a:pPr>
              <a:defRPr sz="2200"/>
            </a:pPr>
            <a:r>
              <a:t>• 파일</a:t>
            </a:r>
          </a:p>
          <a:p>
            <a:pPr>
              <a:defRPr sz="2200"/>
            </a:pPr>
            <a:r>
              <a:t>• 오디오</a:t>
            </a:r>
          </a:p>
          <a:p>
            <a:pPr>
              <a:defRPr sz="2200"/>
            </a:pPr>
            <a:r>
              <a:t>를 함께 전달할 수 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0000"/>
          </a:xfrm>
          <a:prstGeom prst="rect">
            <a:avLst/>
          </a:prstGeom>
          <a:solidFill>
            <a:srgbClr val="19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31520"/>
            <a:ext cx="11155680" cy="539496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/>
            </a:pPr>
            <a:r>
              <a:t>Function Calling의 확장 개념</a:t>
            </a:r>
          </a:p>
          <a:p>
            <a:pPr>
              <a:defRPr sz="2200"/>
            </a:pPr>
            <a:r>
              <a:t>• 사용자 정의 함수</a:t>
            </a:r>
          </a:p>
          <a:p>
            <a:pPr>
              <a:defRPr sz="2200"/>
            </a:pPr>
            <a:r>
              <a:t>• Web Search</a:t>
            </a:r>
          </a:p>
          <a:p>
            <a:pPr>
              <a:defRPr sz="2200"/>
            </a:pPr>
            <a:r>
              <a:t>• File Search</a:t>
            </a:r>
          </a:p>
          <a:p>
            <a:pPr>
              <a:defRPr sz="2200"/>
            </a:pPr>
            <a:r>
              <a:t>• Computer Use</a:t>
            </a:r>
          </a:p>
          <a:p>
            <a:pPr>
              <a:defRPr sz="2200"/>
            </a:pPr>
            <a:r>
              <a:t>동일한 인터페이스로 호출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0000"/>
          </a:xfrm>
          <a:prstGeom prst="rect">
            <a:avLst/>
          </a:prstGeom>
          <a:solidFill>
            <a:srgbClr val="19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마이그레이션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31520"/>
            <a:ext cx="11155680" cy="539496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/>
            </a:pPr>
            <a:r>
              <a:t>1. chat.completions.create → responses.create</a:t>
            </a:r>
          </a:p>
          <a:p>
            <a:pPr>
              <a:defRPr sz="2200"/>
            </a:pPr>
            <a:r>
              <a:t>2. messages → input</a:t>
            </a:r>
          </a:p>
          <a:p>
            <a:pPr>
              <a:defRPr sz="2200"/>
            </a:pPr>
            <a:r>
              <a:t>3. choices → output_text</a:t>
            </a:r>
          </a:p>
          <a:p>
            <a:pPr>
              <a:defRPr sz="2200"/>
            </a:pPr>
            <a:r>
              <a:t>4. functions → tools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0000"/>
          </a:xfrm>
          <a:prstGeom prst="rect">
            <a:avLst/>
          </a:prstGeom>
          <a:solidFill>
            <a:srgbClr val="19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실무 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31520"/>
            <a:ext cx="11155680" cy="539496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/>
            </a:pPr>
            <a:r>
              <a:t>• 신규 프로젝트는 Responses API 사용</a:t>
            </a:r>
          </a:p>
          <a:p>
            <a:pPr>
              <a:defRPr sz="2200"/>
            </a:pPr>
            <a:r>
              <a:t>• 레거시 시스템은 단계적으로 이전</a:t>
            </a:r>
          </a:p>
          <a:p>
            <a:pPr>
              <a:defRPr sz="2200"/>
            </a:pPr>
            <a:r>
              <a:t>• 공식 예제도 Responses API 중심으로 제공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0000"/>
          </a:xfrm>
          <a:prstGeom prst="rect">
            <a:avLst/>
          </a:prstGeom>
          <a:solidFill>
            <a:srgbClr val="19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자주 발생하는 오류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31520"/>
            <a:ext cx="11155680" cy="539496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/>
            </a:pPr>
            <a:r>
              <a:t>AttributeError: OpenAI has no attribute responses</a:t>
            </a:r>
          </a:p>
          <a:p>
            <a:pPr>
              <a:defRPr sz="2200"/>
            </a:pPr>
            <a:r>
              <a:t>→ SDK 버전 확인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messages와 input 혼용</a:t>
            </a:r>
          </a:p>
          <a:p>
            <a:pPr>
              <a:defRPr sz="2200"/>
            </a:pPr>
            <a:r>
              <a:t>→ API 문서 기준으로 통일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0000"/>
          </a:xfrm>
          <a:prstGeom prst="rect">
            <a:avLst/>
          </a:prstGeom>
          <a:solidFill>
            <a:srgbClr val="19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실습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31520"/>
            <a:ext cx="11155680" cy="539496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/>
            </a:pPr>
            <a:r>
              <a:t>client = OpenAI()</a:t>
            </a:r>
          </a:p>
          <a:p>
            <a:pPr>
              <a:defRPr sz="2200"/>
            </a:pPr>
            <a:r>
              <a:t>response = client.responses.create(model='gpt-5', input='안녕하세요')</a:t>
            </a:r>
          </a:p>
          <a:p>
            <a:pPr>
              <a:defRPr sz="2200"/>
            </a:pPr>
            <a:r>
              <a:t>print(response.output_text)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0000"/>
          </a:xfrm>
          <a:prstGeom prst="rect">
            <a:avLst/>
          </a:prstGeom>
          <a:solidFill>
            <a:srgbClr val="19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요약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31520"/>
            <a:ext cx="11155680" cy="539496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/>
            </a:pPr>
            <a:r>
              <a:t>Responses API는 OpenAI의 표준 인터페이스입니다.</a:t>
            </a:r>
          </a:p>
          <a:p>
            <a:pPr>
              <a:defRPr sz="2200"/>
            </a:pPr>
            <a:r>
              <a:t>텍스트 중심 API에서 멀티모달·도구 중심 API로 진화했습니다.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