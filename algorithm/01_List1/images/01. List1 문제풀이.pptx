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72" r:id="rId2"/>
    <p:sldId id="258" r:id="rId3"/>
    <p:sldId id="264" r:id="rId4"/>
    <p:sldId id="260" r:id="rId5"/>
    <p:sldId id="276" r:id="rId6"/>
    <p:sldId id="273" r:id="rId7"/>
    <p:sldId id="274" r:id="rId8"/>
    <p:sldId id="275" r:id="rId9"/>
    <p:sldId id="271" r:id="rId10"/>
    <p:sldId id="288" r:id="rId11"/>
    <p:sldId id="287" r:id="rId12"/>
    <p:sldId id="289" r:id="rId13"/>
    <p:sldId id="290" r:id="rId14"/>
    <p:sldId id="291" r:id="rId15"/>
    <p:sldId id="286" r:id="rId16"/>
    <p:sldId id="265" r:id="rId17"/>
    <p:sldId id="267" r:id="rId18"/>
    <p:sldId id="283" r:id="rId19"/>
    <p:sldId id="266" r:id="rId20"/>
    <p:sldId id="284" r:id="rId21"/>
    <p:sldId id="292" r:id="rId22"/>
    <p:sldId id="270" r:id="rId23"/>
    <p:sldId id="280" r:id="rId24"/>
    <p:sldId id="278" r:id="rId25"/>
    <p:sldId id="279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F75C7-A3D3-4ED1-BD93-2C4363023BFC}" v="1" dt="2026-02-02T10:46:58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28" autoAdjust="0"/>
    <p:restoredTop sz="94155" autoAdjust="0"/>
  </p:normalViewPr>
  <p:slideViewPr>
    <p:cSldViewPr snapToGrid="0">
      <p:cViewPr varScale="1">
        <p:scale>
          <a:sx n="89" d="100"/>
          <a:sy n="89" d="100"/>
        </p:scale>
        <p:origin x="1146" y="54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윤 정" userId="36d53ad7afdb7c6a" providerId="LiveId" clId="{77047843-C700-4142-9719-0273A2E75AD5}"/>
    <pc:docChg chg="custSel modSld">
      <pc:chgData name="종윤 정" userId="36d53ad7afdb7c6a" providerId="LiveId" clId="{77047843-C700-4142-9719-0273A2E75AD5}" dt="2026-02-02T10:47:30.385" v="7" actId="1076"/>
      <pc:docMkLst>
        <pc:docMk/>
      </pc:docMkLst>
      <pc:sldChg chg="addSp delSp modSp mod">
        <pc:chgData name="종윤 정" userId="36d53ad7afdb7c6a" providerId="LiveId" clId="{77047843-C700-4142-9719-0273A2E75AD5}" dt="2026-02-02T10:47:30.385" v="7" actId="1076"/>
        <pc:sldMkLst>
          <pc:docMk/>
          <pc:sldMk cId="2633362083" sldId="274"/>
        </pc:sldMkLst>
        <pc:spChg chg="add mod">
          <ac:chgData name="종윤 정" userId="36d53ad7afdb7c6a" providerId="LiveId" clId="{77047843-C700-4142-9719-0273A2E75AD5}" dt="2026-02-02T10:47:30.385" v="7" actId="1076"/>
          <ac:spMkLst>
            <pc:docMk/>
            <pc:sldMk cId="2633362083" sldId="274"/>
            <ac:spMk id="4" creationId="{4966A32A-070F-33F4-9409-46411672C2E4}"/>
          </ac:spMkLst>
        </pc:spChg>
        <pc:spChg chg="del mod">
          <ac:chgData name="종윤 정" userId="36d53ad7afdb7c6a" providerId="LiveId" clId="{77047843-C700-4142-9719-0273A2E75AD5}" dt="2026-02-02T10:47:24.526" v="6" actId="478"/>
          <ac:spMkLst>
            <pc:docMk/>
            <pc:sldMk cId="2633362083" sldId="274"/>
            <ac:spMk id="7" creationId="{A1B0FE8D-48D3-4E00-887F-58EFED04E266}"/>
          </ac:spMkLst>
        </pc:spChg>
        <pc:spChg chg="mod">
          <ac:chgData name="종윤 정" userId="36d53ad7afdb7c6a" providerId="LiveId" clId="{77047843-C700-4142-9719-0273A2E75AD5}" dt="2026-02-02T10:47:09.324" v="5" actId="1035"/>
          <ac:spMkLst>
            <pc:docMk/>
            <pc:sldMk cId="2633362083" sldId="274"/>
            <ac:spMk id="8" creationId="{537A2B41-27D6-4E92-BE78-79FBE69581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64371-2013-4DC3-8778-BB2F687614BE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02894-EF80-4578-B8CC-1A9170360B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06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 카드가 각각 몇 장인지 기록하기 위해</a:t>
            </a:r>
            <a:r>
              <a:rPr lang="en-US" altLang="ko-KR" dirty="0"/>
              <a:t>, </a:t>
            </a:r>
            <a:r>
              <a:rPr lang="ko-KR" altLang="en-US" dirty="0"/>
              <a:t>우선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9</a:t>
            </a:r>
            <a:r>
              <a:rPr lang="ko-KR" altLang="en-US" dirty="0"/>
              <a:t>까지의 인덱스를 가진 리스트를 준비합니다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다음 주어진 카드의 숫자에 해당하는 자리에 </a:t>
            </a:r>
            <a:r>
              <a:rPr lang="en-US" altLang="ko-KR" dirty="0"/>
              <a:t>1</a:t>
            </a:r>
            <a:r>
              <a:rPr lang="ko-KR" altLang="en-US" dirty="0"/>
              <a:t>을 더해 카드 수를 기록합니다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30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주어진 모든 카드에 대해 장 수를 기록하고 나면</a:t>
            </a:r>
            <a:r>
              <a:rPr lang="en-US" altLang="ko-KR" dirty="0"/>
              <a:t>, </a:t>
            </a:r>
            <a:r>
              <a:rPr lang="ko-KR" altLang="en-US" dirty="0"/>
              <a:t>가장 오른쪽의 </a:t>
            </a:r>
            <a:r>
              <a:rPr lang="en-US" altLang="ko-KR" dirty="0"/>
              <a:t>max</a:t>
            </a:r>
            <a:r>
              <a:rPr lang="ko-KR" altLang="en-US" dirty="0"/>
              <a:t>값을 찾아 인덱스와 내용을 출력합니다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max</a:t>
            </a:r>
            <a:r>
              <a:rPr lang="ko-KR" altLang="en-US" dirty="0"/>
              <a:t>값을 찾는 과정은 카드를 확인하는 과정에서 동시에 찾을 수도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93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많은 숫자를 찾는 </a:t>
            </a:r>
            <a:r>
              <a:rPr lang="ko-KR" altLang="en-US" dirty="0" err="1"/>
              <a:t>파이썬</a:t>
            </a:r>
            <a:r>
              <a:rPr lang="ko-KR" altLang="en-US" dirty="0"/>
              <a:t> 함수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가장 많은 숫자만 알면 카드 장 수도 알 수 있기 때문에</a:t>
            </a:r>
            <a:r>
              <a:rPr lang="en-US" altLang="ko-KR" dirty="0"/>
              <a:t>,</a:t>
            </a:r>
            <a:r>
              <a:rPr lang="ko-KR" altLang="en-US" dirty="0"/>
              <a:t> 가장 많은 숫자를 찾아서 반환합니다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103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 다른 방법은 충전기 위치를 직접 저장해서 답을 찾는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출발점과 종점을 충전기 위치 리스트에 추가합니다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충전위치는 </a:t>
            </a:r>
            <a:r>
              <a:rPr lang="en-US" altLang="ko-KR" dirty="0"/>
              <a:t>0</a:t>
            </a:r>
            <a:r>
              <a:rPr lang="ko-KR" altLang="en-US" dirty="0"/>
              <a:t>으로 기록합니다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그 다음 </a:t>
            </a:r>
            <a:r>
              <a:rPr lang="en-US" altLang="ko-KR" dirty="0"/>
              <a:t>v[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와 </a:t>
            </a:r>
            <a:r>
              <a:rPr lang="en-US" altLang="ko-KR" dirty="0"/>
              <a:t>v[i-1]</a:t>
            </a:r>
            <a:r>
              <a:rPr lang="ko-KR" altLang="en-US" dirty="0"/>
              <a:t>의 차이가 </a:t>
            </a:r>
            <a:r>
              <a:rPr lang="en-US" altLang="ko-KR" dirty="0"/>
              <a:t>K</a:t>
            </a:r>
            <a:r>
              <a:rPr lang="ko-KR" altLang="en-US" dirty="0"/>
              <a:t>보다 크면 중지하고</a:t>
            </a:r>
            <a:r>
              <a:rPr lang="en-US" altLang="ko-KR" dirty="0"/>
              <a:t>, </a:t>
            </a:r>
            <a:r>
              <a:rPr lang="ko-KR" altLang="en-US" dirty="0"/>
              <a:t>그렇지 않으면 충전기 </a:t>
            </a:r>
            <a:r>
              <a:rPr lang="en-US" altLang="ko-KR" dirty="0"/>
              <a:t>v[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와 마지막 충전위치 </a:t>
            </a:r>
            <a:r>
              <a:rPr lang="en-US" altLang="ko-KR" dirty="0"/>
              <a:t>last</a:t>
            </a:r>
            <a:r>
              <a:rPr lang="ko-KR" altLang="en-US" dirty="0"/>
              <a:t>의 차이를 비교합니다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만약 충전기 </a:t>
            </a:r>
            <a:r>
              <a:rPr lang="en-US" altLang="ko-KR" dirty="0"/>
              <a:t>v[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에 도착할 수 있으면 </a:t>
            </a:r>
            <a:r>
              <a:rPr lang="en-US" altLang="ko-KR" dirty="0" err="1"/>
              <a:t>i</a:t>
            </a:r>
            <a:r>
              <a:rPr lang="ko-KR" altLang="en-US" dirty="0" err="1"/>
              <a:t>를</a:t>
            </a:r>
            <a:r>
              <a:rPr lang="ko-KR" altLang="en-US" dirty="0"/>
              <a:t> 한 칸 이동해서 다시 비교합니다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이때 충전기 </a:t>
            </a:r>
            <a:r>
              <a:rPr lang="en-US" altLang="ko-KR" dirty="0"/>
              <a:t>v[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에 도착할 수 없으면 </a:t>
            </a:r>
            <a:r>
              <a:rPr lang="en-US" altLang="ko-KR" dirty="0"/>
              <a:t>v[i-1]</a:t>
            </a:r>
            <a:r>
              <a:rPr lang="ko-KR" altLang="en-US" dirty="0"/>
              <a:t>을 마지막 충전기 번호로 표시하고 충전횟수를 증가시킵니다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종점에 도착할 때 까지 </a:t>
            </a:r>
            <a:r>
              <a:rPr lang="en-US" altLang="ko-KR" dirty="0" err="1"/>
              <a:t>i</a:t>
            </a:r>
            <a:r>
              <a:rPr lang="ko-KR" altLang="en-US" dirty="0"/>
              <a:t>를 오른쪽으로 이동시키면서 </a:t>
            </a:r>
            <a:r>
              <a:rPr lang="en-US" altLang="ko-KR" dirty="0"/>
              <a:t>1</a:t>
            </a:r>
            <a:r>
              <a:rPr lang="ko-KR" altLang="en-US" dirty="0"/>
              <a:t>번부터 반복합니다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455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A461-04B5-2CCD-CD3B-2134B743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44A55-13BA-A7FE-F36D-EFB8CE0C4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A1321B-CC07-81EF-D2E0-440398AFC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접근 방법은 정류장 번호를 인덱스로 해서 충전기 위치를 표시하는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</a:t>
            </a:r>
            <a:r>
              <a:rPr lang="en-US" altLang="ko-KR" dirty="0"/>
              <a:t>0</a:t>
            </a:r>
            <a:r>
              <a:rPr lang="ko-KR" altLang="en-US" dirty="0"/>
              <a:t>번부터 </a:t>
            </a:r>
            <a:r>
              <a:rPr lang="en-US" altLang="ko-KR" dirty="0"/>
              <a:t>K</a:t>
            </a:r>
            <a:r>
              <a:rPr lang="ko-KR" altLang="en-US" dirty="0"/>
              <a:t>만큼 이동해 봅니다</a:t>
            </a:r>
            <a:r>
              <a:rPr lang="en-US" altLang="ko-KR" dirty="0"/>
              <a:t>. </a:t>
            </a:r>
            <a:r>
              <a:rPr lang="ko-KR" altLang="en-US" dirty="0"/>
              <a:t>만약 충전기가 있으면 마지막 충전 위치로 표시하고 충전 횟수를 늘립니다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충전기에서 다시 </a:t>
            </a:r>
            <a:r>
              <a:rPr lang="en-US" altLang="ko-KR" dirty="0"/>
              <a:t>K</a:t>
            </a:r>
            <a:r>
              <a:rPr lang="ko-KR" altLang="en-US" dirty="0"/>
              <a:t>만큼 이동합니다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충전기가 없으면 충전기를 찾을 때 까지 이동 위치를 </a:t>
            </a:r>
            <a:r>
              <a:rPr lang="en-US" altLang="ko-KR" dirty="0"/>
              <a:t>K-1, K-2</a:t>
            </a:r>
            <a:r>
              <a:rPr lang="ko-KR" altLang="en-US" dirty="0"/>
              <a:t>처럼</a:t>
            </a:r>
            <a:r>
              <a:rPr lang="en-US" altLang="ko-KR" dirty="0"/>
              <a:t> </a:t>
            </a:r>
            <a:r>
              <a:rPr lang="ko-KR" altLang="en-US" dirty="0"/>
              <a:t>하나씩 줄여갑니다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K=0</a:t>
            </a:r>
            <a:r>
              <a:rPr lang="ko-KR" altLang="en-US" dirty="0"/>
              <a:t>이 되면 종점에 도착할 수 없는 경우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8C8518-8C19-3950-B26A-8547D6C69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370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접근 방법은 정류장 번호를 인덱스로 해서 충전기 위치를 표시하는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</a:t>
            </a:r>
            <a:r>
              <a:rPr lang="en-US" altLang="ko-KR" dirty="0"/>
              <a:t>0</a:t>
            </a:r>
            <a:r>
              <a:rPr lang="ko-KR" altLang="en-US" dirty="0"/>
              <a:t>번부터 </a:t>
            </a:r>
            <a:r>
              <a:rPr lang="en-US" altLang="ko-KR" dirty="0"/>
              <a:t>K</a:t>
            </a:r>
            <a:r>
              <a:rPr lang="ko-KR" altLang="en-US" dirty="0"/>
              <a:t>만큼 이동해 봅니다</a:t>
            </a:r>
            <a:r>
              <a:rPr lang="en-US" altLang="ko-KR" dirty="0"/>
              <a:t>. </a:t>
            </a:r>
            <a:r>
              <a:rPr lang="ko-KR" altLang="en-US" dirty="0"/>
              <a:t>만약 충전기가 있으면 마지막 충전 위치로 표시하고 충전 횟수를 늘립니다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충전기에서 다시 </a:t>
            </a:r>
            <a:r>
              <a:rPr lang="en-US" altLang="ko-KR" dirty="0"/>
              <a:t>K</a:t>
            </a:r>
            <a:r>
              <a:rPr lang="ko-KR" altLang="en-US" dirty="0"/>
              <a:t>만큼 이동합니다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충전기가 없으면 충전기를 찾을 때 까지 이동 위치를 </a:t>
            </a:r>
            <a:r>
              <a:rPr lang="en-US" altLang="ko-KR" dirty="0"/>
              <a:t>K-1, K-2</a:t>
            </a:r>
            <a:r>
              <a:rPr lang="ko-KR" altLang="en-US" dirty="0"/>
              <a:t>처럼</a:t>
            </a:r>
            <a:r>
              <a:rPr lang="en-US" altLang="ko-KR" dirty="0"/>
              <a:t> </a:t>
            </a:r>
            <a:r>
              <a:rPr lang="ko-KR" altLang="en-US" dirty="0"/>
              <a:t>하나씩 줄여갑니다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K=0</a:t>
            </a:r>
            <a:r>
              <a:rPr lang="ko-KR" altLang="en-US" dirty="0"/>
              <a:t>이 되면 종점에 도착할 수 없는 경우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96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FEE2-0D19-3949-88C1-DCA45E8C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74F85-3B87-20E5-CC84-917D432B6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5F70BA-8C6F-4BFE-0B2A-232DD501D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접근 방법은 정류장 번호를 인덱스로 해서 충전기 위치를 표시하는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</a:t>
            </a:r>
            <a:r>
              <a:rPr lang="en-US" altLang="ko-KR" dirty="0"/>
              <a:t>0</a:t>
            </a:r>
            <a:r>
              <a:rPr lang="ko-KR" altLang="en-US" dirty="0"/>
              <a:t>번부터 </a:t>
            </a:r>
            <a:r>
              <a:rPr lang="en-US" altLang="ko-KR" dirty="0"/>
              <a:t>K</a:t>
            </a:r>
            <a:r>
              <a:rPr lang="ko-KR" altLang="en-US" dirty="0"/>
              <a:t>만큼 이동해 봅니다</a:t>
            </a:r>
            <a:r>
              <a:rPr lang="en-US" altLang="ko-KR" dirty="0"/>
              <a:t>. </a:t>
            </a:r>
            <a:r>
              <a:rPr lang="ko-KR" altLang="en-US" dirty="0"/>
              <a:t>만약 충전기가 있으면 마지막 충전 위치로 표시하고 충전 횟수를 늘립니다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충전기에서 다시 </a:t>
            </a:r>
            <a:r>
              <a:rPr lang="en-US" altLang="ko-KR" dirty="0"/>
              <a:t>K</a:t>
            </a:r>
            <a:r>
              <a:rPr lang="ko-KR" altLang="en-US" dirty="0"/>
              <a:t>만큼 이동합니다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충전기가 없으면 충전기를 찾을 때 까지 이동 위치를 </a:t>
            </a:r>
            <a:r>
              <a:rPr lang="en-US" altLang="ko-KR" dirty="0"/>
              <a:t>K-1, K-2</a:t>
            </a:r>
            <a:r>
              <a:rPr lang="ko-KR" altLang="en-US" dirty="0"/>
              <a:t>처럼</a:t>
            </a:r>
            <a:r>
              <a:rPr lang="en-US" altLang="ko-KR" dirty="0"/>
              <a:t> </a:t>
            </a:r>
            <a:r>
              <a:rPr lang="ko-KR" altLang="en-US" dirty="0"/>
              <a:t>하나씩 줄여갑니다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K=0</a:t>
            </a:r>
            <a:r>
              <a:rPr lang="ko-KR" altLang="en-US" dirty="0"/>
              <a:t>이 되면 종점에 도착할 수 없는 경우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267F6-78E0-0CAB-04FD-C2EA793F5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02894-EF80-4578-B8CC-1A9170360B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11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70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49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3200" baseline="0">
                <a:latin typeface="JetBrains Mono" panose="02000009000000000000" pitchFamily="49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9085"/>
            <a:ext cx="7886700" cy="5047878"/>
          </a:xfrm>
        </p:spPr>
        <p:txBody>
          <a:bodyPr/>
          <a:lstStyle>
            <a:lvl1pPr>
              <a:defRPr sz="2400" baseline="0">
                <a:latin typeface="JetBrains Mono" panose="02000009000000000000" pitchFamily="49" charset="0"/>
              </a:defRPr>
            </a:lvl1pPr>
            <a:lvl2pPr>
              <a:defRPr sz="2000" baseline="0">
                <a:latin typeface="JetBrains Mono" panose="02000009000000000000" pitchFamily="49" charset="0"/>
              </a:defRPr>
            </a:lvl2pPr>
            <a:lvl3pPr>
              <a:defRPr sz="1800" baseline="0">
                <a:latin typeface="JetBrains Mono" panose="02000009000000000000" pitchFamily="49" charset="0"/>
              </a:defRPr>
            </a:lvl3pPr>
            <a:lvl4pPr>
              <a:defRPr sz="1600" baseline="0">
                <a:latin typeface="JetBrains Mono" panose="02000009000000000000" pitchFamily="49" charset="0"/>
              </a:defRPr>
            </a:lvl4pPr>
            <a:lvl5pPr>
              <a:defRPr sz="1600" baseline="0">
                <a:latin typeface="JetBrains Mono" panose="02000009000000000000" pitchFamily="49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JetBrains Mono" panose="02000009000000000000" pitchFamily="49" charset="0"/>
              </a:defRPr>
            </a:lvl1pPr>
          </a:lstStyle>
          <a:p>
            <a:fld id="{9E59F0BB-0753-40D1-BEF5-C9C902BCEED6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JetBrains Mono" panose="02000009000000000000" pitchFamily="49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JetBrains Mono" panose="02000009000000000000" pitchFamily="49" charset="0"/>
              </a:defRPr>
            </a:lvl1pPr>
          </a:lstStyle>
          <a:p>
            <a:fld id="{86F2106F-B98A-4D25-B05C-F983C486D8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39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82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3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1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34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96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9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4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36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31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9F0BB-0753-40D1-BEF5-C9C902BCEED6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2106F-B98A-4D25-B05C-F983C486D8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12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카드</a:t>
            </a:r>
          </a:p>
        </p:txBody>
      </p:sp>
    </p:spTree>
    <p:extLst>
      <p:ext uri="{BB962C8B-B14F-4D97-AF65-F5344CB8AC3E}">
        <p14:creationId xmlns:p14="http://schemas.microsoft.com/office/powerpoint/2010/main" val="207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C406-6259-43A1-931B-6A936921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1</a:t>
            </a:r>
            <a:endParaRPr lang="ko-KR" altLang="en-US" sz="1800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0A43B87-7405-481B-831A-D13FA3924F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1568979"/>
          <a:ext cx="727921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747">
                  <a:extLst>
                    <a:ext uri="{9D8B030D-6E8A-4147-A177-3AD203B41FA5}">
                      <a16:colId xmlns:a16="http://schemas.microsoft.com/office/drawing/2014/main" val="1520646325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11561243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81821793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95406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490146658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04351789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523842196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937922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238154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2678321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579961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9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card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907235"/>
                  </a:ext>
                </a:extLst>
              </a:tr>
            </a:tbl>
          </a:graphicData>
        </a:graphic>
      </p:graphicFrame>
      <p:graphicFrame>
        <p:nvGraphicFramePr>
          <p:cNvPr id="9" name="내용 개체 틀 4">
            <a:extLst>
              <a:ext uri="{FF2B5EF4-FFF2-40B4-BE49-F238E27FC236}">
                <a16:creationId xmlns:a16="http://schemas.microsoft.com/office/drawing/2014/main" id="{336DE0B3-3814-4245-9A56-38B69ECEC39D}"/>
              </a:ext>
            </a:extLst>
          </p:cNvPr>
          <p:cNvGraphicFramePr>
            <a:graphicFrameLocks/>
          </p:cNvGraphicFramePr>
          <p:nvPr/>
        </p:nvGraphicFramePr>
        <p:xfrm>
          <a:off x="1066800" y="4547342"/>
          <a:ext cx="727921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747">
                  <a:extLst>
                    <a:ext uri="{9D8B030D-6E8A-4147-A177-3AD203B41FA5}">
                      <a16:colId xmlns:a16="http://schemas.microsoft.com/office/drawing/2014/main" val="1520646325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11561243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81821793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95406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490146658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04351789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523842196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937922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238154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2678321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579961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9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card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0+1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90723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E8AF27C-DAF0-4478-9939-ED7BF5B6A9C0}"/>
              </a:ext>
            </a:extLst>
          </p:cNvPr>
          <p:cNvGraphicFramePr>
            <a:graphicFrameLocks noGrp="1"/>
          </p:cNvGraphicFramePr>
          <p:nvPr/>
        </p:nvGraphicFramePr>
        <p:xfrm>
          <a:off x="2015067" y="3243580"/>
          <a:ext cx="5266270" cy="617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627">
                  <a:extLst>
                    <a:ext uri="{9D8B030D-6E8A-4147-A177-3AD203B41FA5}">
                      <a16:colId xmlns:a16="http://schemas.microsoft.com/office/drawing/2014/main" val="11235130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1220349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731653664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718149788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1297774350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785690604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363596328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6699976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551837076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81322208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3456662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56EAA0-5D3C-4DC6-8EF9-1E7DCA5F367F}"/>
              </a:ext>
            </a:extLst>
          </p:cNvPr>
          <p:cNvCxnSpPr>
            <a:cxnSpLocks/>
          </p:cNvCxnSpPr>
          <p:nvPr/>
        </p:nvCxnSpPr>
        <p:spPr>
          <a:xfrm>
            <a:off x="2319867" y="3930122"/>
            <a:ext cx="2252133" cy="61722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82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C406-6259-43A1-931B-6A936921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1</a:t>
            </a:r>
            <a:endParaRPr lang="ko-KR" altLang="en-US" sz="1800" dirty="0"/>
          </a:p>
        </p:txBody>
      </p:sp>
      <p:graphicFrame>
        <p:nvGraphicFramePr>
          <p:cNvPr id="9" name="내용 개체 틀 4">
            <a:extLst>
              <a:ext uri="{FF2B5EF4-FFF2-40B4-BE49-F238E27FC236}">
                <a16:creationId xmlns:a16="http://schemas.microsoft.com/office/drawing/2014/main" id="{336DE0B3-3814-4245-9A56-38B69ECEC39D}"/>
              </a:ext>
            </a:extLst>
          </p:cNvPr>
          <p:cNvGraphicFramePr>
            <a:graphicFrameLocks/>
          </p:cNvGraphicFramePr>
          <p:nvPr/>
        </p:nvGraphicFramePr>
        <p:xfrm>
          <a:off x="990598" y="3311208"/>
          <a:ext cx="727921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747">
                  <a:extLst>
                    <a:ext uri="{9D8B030D-6E8A-4147-A177-3AD203B41FA5}">
                      <a16:colId xmlns:a16="http://schemas.microsoft.com/office/drawing/2014/main" val="1520646325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11561243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81821793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95406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490146658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004351789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3523842196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9379227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2238154262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742678321"/>
                    </a:ext>
                  </a:extLst>
                </a:gridCol>
                <a:gridCol w="661747">
                  <a:extLst>
                    <a:ext uri="{9D8B030D-6E8A-4147-A177-3AD203B41FA5}">
                      <a16:colId xmlns:a16="http://schemas.microsoft.com/office/drawing/2014/main" val="1579961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93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card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90723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E8AF27C-DAF0-4478-9939-ED7BF5B6A9C0}"/>
              </a:ext>
            </a:extLst>
          </p:cNvPr>
          <p:cNvGraphicFramePr>
            <a:graphicFrameLocks noGrp="1"/>
          </p:cNvGraphicFramePr>
          <p:nvPr/>
        </p:nvGraphicFramePr>
        <p:xfrm>
          <a:off x="1938865" y="2007446"/>
          <a:ext cx="5266270" cy="617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627">
                  <a:extLst>
                    <a:ext uri="{9D8B030D-6E8A-4147-A177-3AD203B41FA5}">
                      <a16:colId xmlns:a16="http://schemas.microsoft.com/office/drawing/2014/main" val="11235130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1220349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731653664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718149788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1297774350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785690604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363596328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669997649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551837076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81322208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3456662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F37F26D-7689-4467-8082-DE7D5D67F0F2}"/>
              </a:ext>
            </a:extLst>
          </p:cNvPr>
          <p:cNvCxnSpPr/>
          <p:nvPr/>
        </p:nvCxnSpPr>
        <p:spPr>
          <a:xfrm flipV="1">
            <a:off x="7941733" y="4250267"/>
            <a:ext cx="0" cy="4233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62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888AF-B1BC-4696-9696-E053CC3B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1</a:t>
            </a:r>
            <a:endParaRPr lang="ko-KR" altLang="en-US" sz="1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54CB6-BDE2-47B2-8547-1EF6BFEDF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501DA-1EC3-406F-9B9B-04153ADD2A95}"/>
              </a:ext>
            </a:extLst>
          </p:cNvPr>
          <p:cNvSpPr txBox="1"/>
          <p:nvPr/>
        </p:nvSpPr>
        <p:spPr>
          <a:xfrm>
            <a:off x="716816" y="2083363"/>
            <a:ext cx="7710367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def find():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maxI</a:t>
            </a:r>
            <a:r>
              <a:rPr lang="en-US" altLang="ko-KR" dirty="0"/>
              <a:t> = 0</a:t>
            </a:r>
          </a:p>
          <a:p>
            <a:r>
              <a:rPr lang="en-US" altLang="ko-KR" dirty="0"/>
              <a:t>    for </a:t>
            </a:r>
            <a:r>
              <a:rPr lang="en-US" altLang="ko-KR" dirty="0" err="1"/>
              <a:t>i</a:t>
            </a:r>
            <a:r>
              <a:rPr lang="en-US" altLang="ko-KR" dirty="0"/>
              <a:t> in range (N):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num</a:t>
            </a:r>
            <a:r>
              <a:rPr lang="en-US" altLang="ko-KR" dirty="0"/>
              <a:t> = </a:t>
            </a:r>
            <a:r>
              <a:rPr lang="en-US" altLang="ko-KR" dirty="0" err="1"/>
              <a:t>int</a:t>
            </a:r>
            <a:r>
              <a:rPr lang="en-US" altLang="ko-KR" dirty="0"/>
              <a:t>(v[</a:t>
            </a:r>
            <a:r>
              <a:rPr lang="en-US" altLang="ko-KR" dirty="0" err="1"/>
              <a:t>i</a:t>
            </a:r>
            <a:r>
              <a:rPr lang="en-US" altLang="ko-KR" dirty="0"/>
              <a:t>])</a:t>
            </a:r>
          </a:p>
          <a:p>
            <a:r>
              <a:rPr lang="en-US" altLang="ko-KR" dirty="0"/>
              <a:t>        card[</a:t>
            </a:r>
            <a:r>
              <a:rPr lang="en-US" altLang="ko-KR" dirty="0" err="1"/>
              <a:t>num</a:t>
            </a:r>
            <a:r>
              <a:rPr lang="en-US" altLang="ko-KR" dirty="0"/>
              <a:t>] = card[</a:t>
            </a:r>
            <a:r>
              <a:rPr lang="en-US" altLang="ko-KR" dirty="0" err="1"/>
              <a:t>num</a:t>
            </a:r>
            <a:r>
              <a:rPr lang="en-US" altLang="ko-KR" dirty="0"/>
              <a:t>] + 1</a:t>
            </a:r>
          </a:p>
          <a:p>
            <a:r>
              <a:rPr lang="en-US" altLang="ko-KR" dirty="0"/>
              <a:t>        if card[</a:t>
            </a:r>
            <a:r>
              <a:rPr lang="en-US" altLang="ko-KR" dirty="0" err="1"/>
              <a:t>maxI</a:t>
            </a:r>
            <a:r>
              <a:rPr lang="en-US" altLang="ko-KR" dirty="0"/>
              <a:t>] &lt; card[</a:t>
            </a:r>
            <a:r>
              <a:rPr lang="en-US" altLang="ko-KR" dirty="0" err="1"/>
              <a:t>num</a:t>
            </a:r>
            <a:r>
              <a:rPr lang="en-US" altLang="ko-KR" dirty="0"/>
              <a:t>]:  # </a:t>
            </a:r>
            <a:r>
              <a:rPr lang="ko-KR" altLang="en-US" dirty="0"/>
              <a:t>개수가 더 많은 숫자 카드 찾기</a:t>
            </a:r>
          </a:p>
          <a:p>
            <a:r>
              <a:rPr lang="ko-KR" altLang="en-US" dirty="0"/>
              <a:t>            </a:t>
            </a:r>
            <a:r>
              <a:rPr lang="en-US" altLang="ko-KR" dirty="0" err="1"/>
              <a:t>maxI</a:t>
            </a:r>
            <a:r>
              <a:rPr lang="en-US" altLang="ko-KR" dirty="0"/>
              <a:t> = </a:t>
            </a:r>
            <a:r>
              <a:rPr lang="en-US" altLang="ko-KR" dirty="0" err="1"/>
              <a:t>num</a:t>
            </a:r>
            <a:endParaRPr lang="en-US" altLang="ko-KR" dirty="0"/>
          </a:p>
          <a:p>
            <a:r>
              <a:rPr lang="en-US" altLang="ko-KR" dirty="0"/>
              <a:t>        else:</a:t>
            </a:r>
          </a:p>
          <a:p>
            <a:r>
              <a:rPr lang="en-US" altLang="ko-KR" dirty="0"/>
              <a:t>            if card[</a:t>
            </a:r>
            <a:r>
              <a:rPr lang="en-US" altLang="ko-KR" dirty="0" err="1"/>
              <a:t>maxI</a:t>
            </a:r>
            <a:r>
              <a:rPr lang="en-US" altLang="ko-KR" dirty="0"/>
              <a:t>] == card[</a:t>
            </a:r>
            <a:r>
              <a:rPr lang="en-US" altLang="ko-KR" dirty="0" err="1"/>
              <a:t>num</a:t>
            </a:r>
            <a:r>
              <a:rPr lang="en-US" altLang="ko-KR" dirty="0"/>
              <a:t>]:  # </a:t>
            </a:r>
            <a:r>
              <a:rPr lang="ko-KR" altLang="en-US" dirty="0"/>
              <a:t>개수가 같은 경우 더 큰 숫자카드 찾기</a:t>
            </a:r>
          </a:p>
          <a:p>
            <a:r>
              <a:rPr lang="ko-KR" altLang="en-US" dirty="0"/>
              <a:t>                </a:t>
            </a:r>
            <a:r>
              <a:rPr lang="en-US" altLang="ko-KR" dirty="0" err="1"/>
              <a:t>maxI</a:t>
            </a:r>
            <a:r>
              <a:rPr lang="en-US" altLang="ko-KR" dirty="0"/>
              <a:t> = max(</a:t>
            </a:r>
            <a:r>
              <a:rPr lang="en-US" altLang="ko-KR" dirty="0" err="1"/>
              <a:t>maxI</a:t>
            </a:r>
            <a:r>
              <a:rPr lang="en-US" altLang="ko-KR" dirty="0"/>
              <a:t>, </a:t>
            </a:r>
            <a:r>
              <a:rPr lang="en-US" altLang="ko-KR" dirty="0" err="1"/>
              <a:t>num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return </a:t>
            </a:r>
            <a:r>
              <a:rPr lang="en-US" altLang="ko-KR" dirty="0" err="1"/>
              <a:t>maxI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7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구간합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765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9AFBF6-EA5D-49CD-AD6F-52EEF00F8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8617"/>
              </p:ext>
            </p:extLst>
          </p:nvPr>
        </p:nvGraphicFramePr>
        <p:xfrm>
          <a:off x="1300251" y="4209198"/>
          <a:ext cx="4509304" cy="62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63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M -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N - 1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747963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207991-27BF-449C-969F-A7E3D448108E}"/>
              </a:ext>
            </a:extLst>
          </p:cNvPr>
          <p:cNvSpPr txBox="1"/>
          <p:nvPr/>
        </p:nvSpPr>
        <p:spPr>
          <a:xfrm>
            <a:off x="1903262" y="4999078"/>
            <a:ext cx="3369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sz="135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왼쪽 대괄호 11">
            <a:extLst>
              <a:ext uri="{FF2B5EF4-FFF2-40B4-BE49-F238E27FC236}">
                <a16:creationId xmlns:a16="http://schemas.microsoft.com/office/drawing/2014/main" id="{ECEF4A4A-16F4-427B-9304-31C0928618D0}"/>
              </a:ext>
            </a:extLst>
          </p:cNvPr>
          <p:cNvSpPr/>
          <p:nvPr/>
        </p:nvSpPr>
        <p:spPr>
          <a:xfrm rot="16200000">
            <a:off x="2010267" y="4287863"/>
            <a:ext cx="122943" cy="1241384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87AEC-B604-494A-857C-3C7A56913724}"/>
              </a:ext>
            </a:extLst>
          </p:cNvPr>
          <p:cNvSpPr txBox="1"/>
          <p:nvPr/>
        </p:nvSpPr>
        <p:spPr>
          <a:xfrm>
            <a:off x="286026" y="4561112"/>
            <a:ext cx="82907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길이 </a:t>
            </a:r>
            <a:r>
              <a:rPr lang="en-US" altLang="ko-KR" sz="135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= N</a:t>
            </a:r>
            <a:endParaRPr lang="ko-KR" altLang="en-US" sz="135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왼쪽 대괄호 19">
            <a:extLst>
              <a:ext uri="{FF2B5EF4-FFF2-40B4-BE49-F238E27FC236}">
                <a16:creationId xmlns:a16="http://schemas.microsoft.com/office/drawing/2014/main" id="{3CB634B8-F4B4-4EB4-884C-7F665E16A51C}"/>
              </a:ext>
            </a:extLst>
          </p:cNvPr>
          <p:cNvSpPr/>
          <p:nvPr/>
        </p:nvSpPr>
        <p:spPr>
          <a:xfrm rot="16200000">
            <a:off x="4937216" y="4316914"/>
            <a:ext cx="122943" cy="1241384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475D97-801D-4F1A-A24D-456A43F88514}"/>
              </a:ext>
            </a:extLst>
          </p:cNvPr>
          <p:cNvSpPr txBox="1"/>
          <p:nvPr/>
        </p:nvSpPr>
        <p:spPr>
          <a:xfrm>
            <a:off x="4040041" y="4200227"/>
            <a:ext cx="6062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 - M</a:t>
            </a:r>
            <a:endParaRPr lang="ko-KR" altLang="en-US" sz="135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551654-A86E-4424-96CA-7B36D5C11CBE}"/>
              </a:ext>
            </a:extLst>
          </p:cNvPr>
          <p:cNvSpPr txBox="1"/>
          <p:nvPr/>
        </p:nvSpPr>
        <p:spPr>
          <a:xfrm>
            <a:off x="1187909" y="5370435"/>
            <a:ext cx="48381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구간의 시작 위치 </a:t>
            </a:r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=&gt; for _ in range(0, N – M + 1)</a:t>
            </a:r>
            <a:endParaRPr lang="ko-KR" altLang="en-US" sz="1350" dirty="0">
              <a:latin typeface="JetBrains Mono" panose="02000009000000000000" pitchFamily="49" charset="0"/>
              <a:ea typeface="Noto Sans KR" panose="020B0200000000000000" pitchFamily="50" charset="-127"/>
              <a:cs typeface="JetBrains Mono" panose="02000009000000000000" pitchFamily="49" charset="0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A8C4B67-E649-41E6-95D7-35FFC071AAEE}"/>
              </a:ext>
            </a:extLst>
          </p:cNvPr>
          <p:cNvSpPr txBox="1">
            <a:spLocks/>
          </p:cNvSpPr>
          <p:nvPr/>
        </p:nvSpPr>
        <p:spPr>
          <a:xfrm>
            <a:off x="580090" y="404954"/>
            <a:ext cx="7983819" cy="453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350" dirty="0"/>
              <a:t>해결방법 </a:t>
            </a:r>
            <a:r>
              <a:rPr lang="en-US" altLang="ko-KR" sz="1350" dirty="0"/>
              <a:t>1</a:t>
            </a:r>
            <a:endParaRPr lang="ko-KR" altLang="en-US" sz="13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7D8561-1572-16A2-E1B1-B8822D7FB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900684"/>
              </p:ext>
            </p:extLst>
          </p:nvPr>
        </p:nvGraphicFramePr>
        <p:xfrm>
          <a:off x="1300251" y="1052873"/>
          <a:ext cx="4357936" cy="62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742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N - 1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747963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0E5BCD-32F0-AE5B-6012-6BE3A167E48E}"/>
              </a:ext>
            </a:extLst>
          </p:cNvPr>
          <p:cNvSpPr txBox="1"/>
          <p:nvPr/>
        </p:nvSpPr>
        <p:spPr>
          <a:xfrm>
            <a:off x="2026839" y="1719809"/>
            <a:ext cx="36313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시작</a:t>
            </a:r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s, </a:t>
            </a:r>
            <a:r>
              <a:rPr lang="ko-KR" altLang="en-US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끝</a:t>
            </a:r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e =&gt; range(s, e + 1)</a:t>
            </a:r>
            <a:endParaRPr lang="ko-KR" altLang="en-US" sz="1350" dirty="0">
              <a:latin typeface="JetBrains Mono" panose="02000009000000000000" pitchFamily="49" charset="0"/>
              <a:ea typeface="Noto Sans KR" panose="020B0200000000000000" pitchFamily="50" charset="-127"/>
              <a:cs typeface="JetBrains Mono" panose="02000009000000000000" pitchFamily="49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257D8B-4C24-B002-83E0-BC784B64B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78013"/>
              </p:ext>
            </p:extLst>
          </p:nvPr>
        </p:nvGraphicFramePr>
        <p:xfrm>
          <a:off x="1300251" y="2346027"/>
          <a:ext cx="4357936" cy="943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742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44742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N - 1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747963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M-1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940264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8EA909-C60D-A84F-8411-9413C0E80CAB}"/>
              </a:ext>
            </a:extLst>
          </p:cNvPr>
          <p:cNvSpPr txBox="1"/>
          <p:nvPr/>
        </p:nvSpPr>
        <p:spPr>
          <a:xfrm>
            <a:off x="2026839" y="3315449"/>
            <a:ext cx="36313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시작</a:t>
            </a:r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s, </a:t>
            </a:r>
            <a:r>
              <a:rPr lang="ko-KR" altLang="en-US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길이</a:t>
            </a:r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M =&gt; range(s, s + M)</a:t>
            </a:r>
            <a:endParaRPr lang="ko-KR" altLang="en-US" sz="1350" dirty="0">
              <a:latin typeface="JetBrains Mono" panose="02000009000000000000" pitchFamily="49" charset="0"/>
              <a:ea typeface="Noto Sans KR" panose="020B0200000000000000" pitchFamily="50" charset="-127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40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14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3B429-E453-42BA-B701-A7D995AAA538}"/>
              </a:ext>
            </a:extLst>
          </p:cNvPr>
          <p:cNvSpPr txBox="1">
            <a:spLocks/>
          </p:cNvSpPr>
          <p:nvPr/>
        </p:nvSpPr>
        <p:spPr>
          <a:xfrm>
            <a:off x="471488" y="1131095"/>
            <a:ext cx="7983819" cy="453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350" dirty="0"/>
              <a:t>해결방법 </a:t>
            </a:r>
            <a:r>
              <a:rPr lang="en-US" altLang="ko-KR" sz="1350" dirty="0"/>
              <a:t>2</a:t>
            </a:r>
            <a:endParaRPr lang="ko-KR" altLang="en-US" sz="13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54F1A8E-35E7-40E2-8E02-16E4C46B3E15}"/>
              </a:ext>
            </a:extLst>
          </p:cNvPr>
          <p:cNvGraphicFramePr>
            <a:graphicFrameLocks noGrp="1"/>
          </p:cNvGraphicFramePr>
          <p:nvPr/>
        </p:nvGraphicFramePr>
        <p:xfrm>
          <a:off x="1702067" y="2488519"/>
          <a:ext cx="4509304" cy="31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63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BCD1F8-D864-41CF-B1DA-68C5103ED2D6}"/>
              </a:ext>
            </a:extLst>
          </p:cNvPr>
          <p:cNvSpPr txBox="1"/>
          <p:nvPr/>
        </p:nvSpPr>
        <p:spPr>
          <a:xfrm>
            <a:off x="471489" y="1751929"/>
            <a:ext cx="70992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슬라이딩 윈도우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(Sliding Window): 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배열의 연속적인 구간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(sub-array, 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윈도우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)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을 왼쪽에서 오른쪽으로 움직이면서 문제를 해결하는 방법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7A2B41-27D6-4E92-BE78-79FBE69581AF}"/>
              </a:ext>
            </a:extLst>
          </p:cNvPr>
          <p:cNvSpPr/>
          <p:nvPr/>
        </p:nvSpPr>
        <p:spPr>
          <a:xfrm>
            <a:off x="1661903" y="2358502"/>
            <a:ext cx="1709571" cy="17069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ABB89-B17A-4934-B8F6-5977440E42C9}"/>
              </a:ext>
            </a:extLst>
          </p:cNvPr>
          <p:cNvSpPr txBox="1"/>
          <p:nvPr/>
        </p:nvSpPr>
        <p:spPr>
          <a:xfrm>
            <a:off x="586129" y="3892117"/>
            <a:ext cx="3746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1. SUM =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첫 번째 구간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(0 ~ M – 1)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의 합을 구한다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1350" b="1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0D22D02-B1DB-4213-8AAC-B2FDC1390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62972"/>
              </p:ext>
            </p:extLst>
          </p:nvPr>
        </p:nvGraphicFramePr>
        <p:xfrm>
          <a:off x="1702067" y="4597736"/>
          <a:ext cx="4509304" cy="31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63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5A4D66D-528E-43D1-A720-5D940D98CF09}"/>
              </a:ext>
            </a:extLst>
          </p:cNvPr>
          <p:cNvSpPr txBox="1"/>
          <p:nvPr/>
        </p:nvSpPr>
        <p:spPr>
          <a:xfrm>
            <a:off x="586129" y="5106073"/>
            <a:ext cx="21515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2. </a:t>
            </a:r>
            <a:r>
              <a:rPr lang="ko-KR" altLang="en-US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다음 구간 부터</a:t>
            </a:r>
            <a:endParaRPr lang="en-US" altLang="ko-KR" sz="1350" b="1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	SUM = SUM – A + B</a:t>
            </a:r>
            <a:endParaRPr lang="ko-KR" altLang="en-US" sz="1350" b="1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0" name="사각형: 둥근 모서리 6">
            <a:extLst>
              <a:ext uri="{FF2B5EF4-FFF2-40B4-BE49-F238E27FC236}">
                <a16:creationId xmlns:a16="http://schemas.microsoft.com/office/drawing/2014/main" id="{A1B0FE8D-48D3-4E00-887F-58EFED04E266}"/>
              </a:ext>
            </a:extLst>
          </p:cNvPr>
          <p:cNvSpPr/>
          <p:nvPr/>
        </p:nvSpPr>
        <p:spPr>
          <a:xfrm>
            <a:off x="1661903" y="4548844"/>
            <a:ext cx="1709571" cy="17069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사각형: 둥근 모서리 6">
            <a:extLst>
              <a:ext uri="{FF2B5EF4-FFF2-40B4-BE49-F238E27FC236}">
                <a16:creationId xmlns:a16="http://schemas.microsoft.com/office/drawing/2014/main" id="{A1B0FE8D-48D3-4E00-887F-58EFED04E266}"/>
              </a:ext>
            </a:extLst>
          </p:cNvPr>
          <p:cNvSpPr/>
          <p:nvPr/>
        </p:nvSpPr>
        <p:spPr>
          <a:xfrm>
            <a:off x="2262982" y="4848386"/>
            <a:ext cx="1709571" cy="17069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966A32A-070F-33F4-9409-46411672C2E4}"/>
              </a:ext>
            </a:extLst>
          </p:cNvPr>
          <p:cNvSpPr/>
          <p:nvPr/>
        </p:nvSpPr>
        <p:spPr>
          <a:xfrm>
            <a:off x="2262982" y="2715147"/>
            <a:ext cx="1709571" cy="17069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26333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564DB3-37E5-4B4B-A63C-3A4DDDEA4D7C}"/>
              </a:ext>
            </a:extLst>
          </p:cNvPr>
          <p:cNvGraphicFramePr>
            <a:graphicFrameLocks noGrp="1"/>
          </p:cNvGraphicFramePr>
          <p:nvPr/>
        </p:nvGraphicFramePr>
        <p:xfrm>
          <a:off x="1702067" y="2488519"/>
          <a:ext cx="4509304" cy="31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63">
                  <a:extLst>
                    <a:ext uri="{9D8B030D-6E8A-4147-A177-3AD203B41FA5}">
                      <a16:colId xmlns:a16="http://schemas.microsoft.com/office/drawing/2014/main" val="39750793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2087000053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168277786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162599949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818952152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87781887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942255030"/>
                    </a:ext>
                  </a:extLst>
                </a:gridCol>
                <a:gridCol w="563663">
                  <a:extLst>
                    <a:ext uri="{9D8B030D-6E8A-4147-A177-3AD203B41FA5}">
                      <a16:colId xmlns:a16="http://schemas.microsoft.com/office/drawing/2014/main" val="307321943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714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79BE3A-F4C5-4823-9F0D-59AEA74CB668}"/>
              </a:ext>
            </a:extLst>
          </p:cNvPr>
          <p:cNvSpPr txBox="1"/>
          <p:nvPr/>
        </p:nvSpPr>
        <p:spPr>
          <a:xfrm>
            <a:off x="1677854" y="2130066"/>
            <a:ext cx="5357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i</a:t>
            </a:r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  = 0</a:t>
            </a:r>
            <a:endParaRPr lang="ko-KR" altLang="en-US" sz="1350" b="1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C432E-8F60-48C5-B1CC-575D0E5F5D18}"/>
              </a:ext>
            </a:extLst>
          </p:cNvPr>
          <p:cNvSpPr txBox="1"/>
          <p:nvPr/>
        </p:nvSpPr>
        <p:spPr>
          <a:xfrm>
            <a:off x="3346056" y="2119007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j  = M</a:t>
            </a:r>
            <a:endParaRPr lang="ko-KR" altLang="en-US" sz="1350" b="1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16312-8B2A-4F7A-ACDF-9E2A6DE88142}"/>
              </a:ext>
            </a:extLst>
          </p:cNvPr>
          <p:cNvSpPr txBox="1"/>
          <p:nvPr/>
        </p:nvSpPr>
        <p:spPr>
          <a:xfrm>
            <a:off x="1784284" y="3797557"/>
            <a:ext cx="356379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i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 = 0</a:t>
            </a:r>
          </a:p>
          <a:p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while </a:t>
            </a:r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i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 &lt;= N - M</a:t>
            </a:r>
          </a:p>
          <a:p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	SUM += (</a:t>
            </a:r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arr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[</a:t>
            </a:r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i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 + M] – </a:t>
            </a:r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arr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[</a:t>
            </a:r>
            <a:r>
              <a:rPr lang="en-US" altLang="ko-KR" sz="1350" dirty="0" err="1">
                <a:latin typeface="Lucida Console" panose="020B0609040504020204" pitchFamily="49" charset="0"/>
                <a:ea typeface="나눔명조" panose="02020603020101020101" pitchFamily="18" charset="-127"/>
              </a:rPr>
              <a:t>i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])</a:t>
            </a:r>
            <a:endParaRPr lang="ko-KR" altLang="en-US" sz="1350" dirty="0">
              <a:latin typeface="Lucida Console" panose="020B0609040504020204" pitchFamily="49" charset="0"/>
              <a:ea typeface="나눔명조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60FE9D-F055-464C-AA69-8B6BCACC4CF0}"/>
              </a:ext>
            </a:extLst>
          </p:cNvPr>
          <p:cNvSpPr/>
          <p:nvPr/>
        </p:nvSpPr>
        <p:spPr>
          <a:xfrm>
            <a:off x="5717007" y="2119007"/>
            <a:ext cx="5405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- 1</a:t>
            </a:r>
            <a:endParaRPr lang="ko-KR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375A3-A37E-4DD6-A402-47260EF0440F}"/>
              </a:ext>
            </a:extLst>
          </p:cNvPr>
          <p:cNvSpPr txBox="1"/>
          <p:nvPr/>
        </p:nvSpPr>
        <p:spPr>
          <a:xfrm>
            <a:off x="1675406" y="1316884"/>
            <a:ext cx="2198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SUM = </a:t>
            </a:r>
            <a:r>
              <a:rPr lang="ko-KR" altLang="en-US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총합</a:t>
            </a:r>
            <a:r>
              <a:rPr lang="en-US" altLang="ko-KR" sz="1350" dirty="0">
                <a:latin typeface="Lucida Console" panose="020B0609040504020204" pitchFamily="49" charset="0"/>
                <a:ea typeface="나눔명조" panose="02020603020101020101" pitchFamily="18" charset="-127"/>
              </a:rPr>
              <a:t>(</a:t>
            </a:r>
            <a:r>
              <a:rPr lang="en-US" altLang="ko-KR" sz="1350" err="1">
                <a:latin typeface="Lucida Console" panose="020B0609040504020204" pitchFamily="49" charset="0"/>
                <a:ea typeface="나눔명조" panose="02020603020101020101" pitchFamily="18" charset="-127"/>
              </a:rPr>
              <a:t>arr</a:t>
            </a:r>
            <a:r>
              <a:rPr lang="en-US" altLang="ko-KR" sz="1350">
                <a:latin typeface="Lucida Console" panose="020B0609040504020204" pitchFamily="49" charset="0"/>
                <a:ea typeface="나눔명조" panose="02020603020101020101" pitchFamily="18" charset="-127"/>
              </a:rPr>
              <a:t>[0:M])</a:t>
            </a:r>
            <a:endParaRPr lang="ko-KR" altLang="en-US" sz="1350" dirty="0">
              <a:latin typeface="Lucida Console" panose="020B0609040504020204" pitchFamily="49" charset="0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16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gravity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760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8E25-A3D0-B646-41A4-5D98F8B3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AD77389-1E05-9CFE-F8F0-3DA430C5F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99257"/>
              </p:ext>
            </p:extLst>
          </p:nvPr>
        </p:nvGraphicFramePr>
        <p:xfrm>
          <a:off x="290232" y="255496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37671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F837CF0-A1E9-DB45-82A8-92A3D5C6FC4B}"/>
              </a:ext>
            </a:extLst>
          </p:cNvPr>
          <p:cNvCxnSpPr>
            <a:cxnSpLocks/>
          </p:cNvCxnSpPr>
          <p:nvPr/>
        </p:nvCxnSpPr>
        <p:spPr>
          <a:xfrm>
            <a:off x="1297642" y="1566582"/>
            <a:ext cx="181535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E0D69A4-5123-B842-AF04-35E24D741C0B}"/>
              </a:ext>
            </a:extLst>
          </p:cNvPr>
          <p:cNvCxnSpPr>
            <a:cxnSpLocks/>
          </p:cNvCxnSpPr>
          <p:nvPr/>
        </p:nvCxnSpPr>
        <p:spPr>
          <a:xfrm>
            <a:off x="1297642" y="1954306"/>
            <a:ext cx="181535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5A5DE3B-F3AA-CDB4-C380-81281B4EF966}"/>
              </a:ext>
            </a:extLst>
          </p:cNvPr>
          <p:cNvCxnSpPr>
            <a:cxnSpLocks/>
          </p:cNvCxnSpPr>
          <p:nvPr/>
        </p:nvCxnSpPr>
        <p:spPr>
          <a:xfrm>
            <a:off x="1297642" y="2330824"/>
            <a:ext cx="181535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F74D0C-F35B-F1C4-9DB1-B2386F1C3053}"/>
              </a:ext>
            </a:extLst>
          </p:cNvPr>
          <p:cNvSpPr txBox="1"/>
          <p:nvPr/>
        </p:nvSpPr>
        <p:spPr>
          <a:xfrm>
            <a:off x="1534086" y="350071"/>
            <a:ext cx="1578908" cy="7155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35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 = 8</a:t>
            </a:r>
            <a:r>
              <a:rPr lang="en-US" altLang="ko-KR" sz="1350" dirty="0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, </a:t>
            </a:r>
            <a:r>
              <a:rPr lang="en-US" altLang="ko-KR" sz="1350" dirty="0" err="1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i</a:t>
            </a:r>
            <a:r>
              <a:rPr lang="en-US" altLang="ko-KR" sz="1350" dirty="0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 = 1</a:t>
            </a:r>
          </a:p>
          <a:p>
            <a:endParaRPr lang="en-US" altLang="ko-KR" sz="1350" dirty="0">
              <a:latin typeface="JetBrains Mono" panose="02000009000000000000" pitchFamily="49" charset="0"/>
              <a:ea typeface="Noto Sans KR" panose="020B0200000000000000" pitchFamily="50" charset="-127"/>
              <a:cs typeface="JetBrains Mono" panose="02000009000000000000" pitchFamily="49" charset="0"/>
            </a:endParaRPr>
          </a:p>
          <a:p>
            <a:r>
              <a:rPr lang="ko-KR" altLang="en-US" sz="1350" dirty="0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거리 </a:t>
            </a:r>
            <a:r>
              <a:rPr lang="en-US" altLang="ko-KR" sz="1350" dirty="0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= N-1 - </a:t>
            </a:r>
            <a:r>
              <a:rPr lang="en-US" altLang="ko-KR" sz="1350" dirty="0" err="1">
                <a:latin typeface="JetBrains Mono" panose="02000009000000000000" pitchFamily="49" charset="0"/>
                <a:ea typeface="Noto Sans KR" panose="020B0200000000000000" pitchFamily="50" charset="-127"/>
                <a:cs typeface="JetBrains Mono" panose="02000009000000000000" pitchFamily="49" charset="0"/>
              </a:rPr>
              <a:t>i</a:t>
            </a:r>
            <a:endParaRPr lang="en-US" altLang="ko-KR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35C506A-28B3-F68D-EAE0-CC11FB1E8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740411"/>
              </p:ext>
            </p:extLst>
          </p:nvPr>
        </p:nvGraphicFramePr>
        <p:xfrm>
          <a:off x="529478" y="137160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F36ED03-3A79-20C4-A625-FE9E316C2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802552"/>
              </p:ext>
            </p:extLst>
          </p:nvPr>
        </p:nvGraphicFramePr>
        <p:xfrm>
          <a:off x="529478" y="3516851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7320B8E-93D7-2CAA-352A-6E06D05FD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10715"/>
              </p:ext>
            </p:extLst>
          </p:nvPr>
        </p:nvGraphicFramePr>
        <p:xfrm>
          <a:off x="3559548" y="137160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1FD98DB-6A45-9BDA-B683-786E659F4198}"/>
              </a:ext>
            </a:extLst>
          </p:cNvPr>
          <p:cNvCxnSpPr>
            <a:cxnSpLocks/>
          </p:cNvCxnSpPr>
          <p:nvPr/>
        </p:nvCxnSpPr>
        <p:spPr>
          <a:xfrm>
            <a:off x="4572000" y="1478295"/>
            <a:ext cx="127385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30D5AE0-8C12-72E5-5548-B317389D2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319540"/>
              </p:ext>
            </p:extLst>
          </p:nvPr>
        </p:nvGraphicFramePr>
        <p:xfrm>
          <a:off x="3633182" y="3516851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1C984F3-68C2-64C4-3D14-6DE4CE289D50}"/>
              </a:ext>
            </a:extLst>
          </p:cNvPr>
          <p:cNvCxnSpPr>
            <a:cxnSpLocks/>
          </p:cNvCxnSpPr>
          <p:nvPr/>
        </p:nvCxnSpPr>
        <p:spPr>
          <a:xfrm>
            <a:off x="4585664" y="2507257"/>
            <a:ext cx="127385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34D1845-2FEF-9D7C-7B09-832496623C48}"/>
              </a:ext>
            </a:extLst>
          </p:cNvPr>
          <p:cNvCxnSpPr>
            <a:cxnSpLocks/>
          </p:cNvCxnSpPr>
          <p:nvPr/>
        </p:nvCxnSpPr>
        <p:spPr>
          <a:xfrm>
            <a:off x="4648726" y="4846861"/>
            <a:ext cx="158180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A5F08B9-409F-97C4-9A58-F5BA3A66BC21}"/>
              </a:ext>
            </a:extLst>
          </p:cNvPr>
          <p:cNvCxnSpPr>
            <a:cxnSpLocks/>
          </p:cNvCxnSpPr>
          <p:nvPr/>
        </p:nvCxnSpPr>
        <p:spPr>
          <a:xfrm>
            <a:off x="4648726" y="5166465"/>
            <a:ext cx="158180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3E527D3-F569-864F-464C-3443E6BD3F6E}"/>
              </a:ext>
            </a:extLst>
          </p:cNvPr>
          <p:cNvCxnSpPr>
            <a:cxnSpLocks/>
          </p:cNvCxnSpPr>
          <p:nvPr/>
        </p:nvCxnSpPr>
        <p:spPr>
          <a:xfrm>
            <a:off x="4648726" y="5509012"/>
            <a:ext cx="127385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4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5253-3DAD-0753-8BDF-80E82928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0D6C03D-BC31-C6FD-8A6C-264474E2C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01563"/>
              </p:ext>
            </p:extLst>
          </p:nvPr>
        </p:nvGraphicFramePr>
        <p:xfrm>
          <a:off x="561009" y="534451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53BC4DA-94AB-CE86-91CB-CDE375201C2E}"/>
              </a:ext>
            </a:extLst>
          </p:cNvPr>
          <p:cNvCxnSpPr>
            <a:cxnSpLocks/>
          </p:cNvCxnSpPr>
          <p:nvPr/>
        </p:nvCxnSpPr>
        <p:spPr>
          <a:xfrm>
            <a:off x="1538714" y="1844055"/>
            <a:ext cx="59909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E669125-90C5-9C15-F709-66370C434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7405"/>
              </p:ext>
            </p:extLst>
          </p:nvPr>
        </p:nvGraphicFramePr>
        <p:xfrm>
          <a:off x="3790838" y="534451"/>
          <a:ext cx="2969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51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29951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3C176BE-9623-DB4D-30A0-4B40A46FEFCA}"/>
              </a:ext>
            </a:extLst>
          </p:cNvPr>
          <p:cNvCxnSpPr>
            <a:cxnSpLocks/>
          </p:cNvCxnSpPr>
          <p:nvPr/>
        </p:nvCxnSpPr>
        <p:spPr>
          <a:xfrm>
            <a:off x="4653981" y="1895555"/>
            <a:ext cx="99007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812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AE5B-2D8D-C8C2-5655-E6C1EA45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01F8F66-1876-3CAC-668C-5EB5E430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647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EF9022-FFA5-4D6E-D3EE-EB0D90E8A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19247"/>
              </p:ext>
            </p:extLst>
          </p:nvPr>
        </p:nvGraphicFramePr>
        <p:xfrm>
          <a:off x="2017742" y="1190297"/>
          <a:ext cx="390379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379">
                  <a:extLst>
                    <a:ext uri="{9D8B030D-6E8A-4147-A177-3AD203B41FA5}">
                      <a16:colId xmlns:a16="http://schemas.microsoft.com/office/drawing/2014/main" val="1468560026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2407633106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1751711275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283027989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1965523252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2827158684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331780218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2807908925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3687664873"/>
                    </a:ext>
                  </a:extLst>
                </a:gridCol>
                <a:gridCol w="390379">
                  <a:extLst>
                    <a:ext uri="{9D8B030D-6E8A-4147-A177-3AD203B41FA5}">
                      <a16:colId xmlns:a16="http://schemas.microsoft.com/office/drawing/2014/main" val="912714766"/>
                    </a:ext>
                  </a:extLst>
                </a:gridCol>
              </a:tblGrid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590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6096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0749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0390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49880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85971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67078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52733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5122"/>
                  </a:ext>
                </a:extLst>
              </a:tr>
              <a:tr h="351865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i-2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i+1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i+2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68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321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6B47E-F3AD-AE99-31E3-12281BE6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14B35AA-90C4-F4DE-54CB-1186218C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 버스</a:t>
            </a:r>
          </a:p>
        </p:txBody>
      </p:sp>
    </p:spTree>
    <p:extLst>
      <p:ext uri="{BB962C8B-B14F-4D97-AF65-F5344CB8AC3E}">
        <p14:creationId xmlns:p14="http://schemas.microsoft.com/office/powerpoint/2010/main" val="569712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463E99-53F3-4AD0-84EB-A4C1CC9F1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충전기 사이의 거리가 </a:t>
            </a:r>
            <a:r>
              <a:rPr lang="en-US" altLang="ko-KR" dirty="0"/>
              <a:t>K </a:t>
            </a:r>
            <a:r>
              <a:rPr lang="ko-KR" altLang="en-US" dirty="0"/>
              <a:t>보다 크면 안된다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1279BC7-6C11-4CDC-B8A5-CBCD7CCC84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530412"/>
              </p:ext>
            </p:extLst>
          </p:nvPr>
        </p:nvGraphicFramePr>
        <p:xfrm>
          <a:off x="628649" y="2051246"/>
          <a:ext cx="8076933" cy="1009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749">
                  <a:extLst>
                    <a:ext uri="{9D8B030D-6E8A-4147-A177-3AD203B41FA5}">
                      <a16:colId xmlns:a16="http://schemas.microsoft.com/office/drawing/2014/main" val="2769689582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846927139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871516207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22907045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6654122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37056959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509603831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77634086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253199084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468114107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4097818743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35718833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36853656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532755322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517638083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4222361936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772398241"/>
                    </a:ext>
                  </a:extLst>
                </a:gridCol>
              </a:tblGrid>
              <a:tr h="5016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나눔명조" panose="02020603020101020101" pitchFamily="18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0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</a:t>
                      </a:r>
                      <a:endParaRPr lang="ko-KR" sz="1600" kern="100" baseline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  <a:endParaRPr lang="ko-KR" sz="1600" kern="100" baseline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  <a:endParaRPr lang="ko-KR" sz="1600" kern="100" baseline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  <a:endParaRPr lang="ko-KR" sz="1600" kern="100" baseline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  <a:endParaRPr lang="ko-KR" sz="1600" kern="100" baseline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  <a:endParaRPr lang="ko-KR" sz="1600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88614"/>
                  </a:ext>
                </a:extLst>
              </a:tr>
              <a:tr h="4858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00" baseline="0" dirty="0">
                          <a:solidFill>
                            <a:schemeClr val="lt1"/>
                          </a:solidFill>
                          <a:effectLst/>
                          <a:latin typeface="Noto Sans" panose="020B0502040504020204" pitchFamily="34" charset="0"/>
                          <a:ea typeface="나눔명조" panose="02020603020101020101" pitchFamily="18" charset="-127"/>
                          <a:cs typeface="Noto Sans" panose="020B0502040504020204" pitchFamily="34" charset="0"/>
                        </a:rPr>
                        <a:t>충전기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 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baseline="0" dirty="0"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</a:t>
                      </a: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baseline="0" dirty="0"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77526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C31882B6-CC69-465C-B4F2-774DA58F335F}"/>
              </a:ext>
            </a:extLst>
          </p:cNvPr>
          <p:cNvGraphicFramePr>
            <a:graphicFrameLocks/>
          </p:cNvGraphicFramePr>
          <p:nvPr/>
        </p:nvGraphicFramePr>
        <p:xfrm>
          <a:off x="628649" y="3686466"/>
          <a:ext cx="8076933" cy="1002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3749">
                  <a:extLst>
                    <a:ext uri="{9D8B030D-6E8A-4147-A177-3AD203B41FA5}">
                      <a16:colId xmlns:a16="http://schemas.microsoft.com/office/drawing/2014/main" val="2769689582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846927139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871516207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22907045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6654122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37056959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509603831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77634086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253199084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468114107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4097818743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357188330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368536568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3532755322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517638083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4222361936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1772398241"/>
                    </a:ext>
                  </a:extLst>
                </a:gridCol>
              </a:tblGrid>
              <a:tr h="5016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kern="100" dirty="0"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정류장</a:t>
                      </a:r>
                      <a:endParaRPr lang="ko-KR" sz="1600" kern="100" dirty="0"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13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14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15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88614"/>
                  </a:ext>
                </a:extLst>
              </a:tr>
              <a:tr h="4858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kern="100" dirty="0"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충전기</a:t>
                      </a:r>
                      <a:endParaRPr lang="ko-KR" sz="1600" kern="100" dirty="0"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 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7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759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72C5D-CC08-42B9-ADE8-AF7BFB07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5419"/>
            <a:ext cx="7886700" cy="604933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1</a:t>
            </a:r>
            <a:endParaRPr lang="ko-KR" altLang="en-US" sz="1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8FBAE-0456-4D20-92BC-4E8D11635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0059"/>
            <a:ext cx="7886700" cy="5047878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충전기 위치를 저장하고</a:t>
            </a:r>
            <a:r>
              <a:rPr lang="en-US" altLang="ko-KR" sz="1600" dirty="0"/>
              <a:t> </a:t>
            </a:r>
            <a:r>
              <a:rPr lang="ko-KR" altLang="en-US" sz="1600" dirty="0"/>
              <a:t>출발점</a:t>
            </a:r>
            <a:r>
              <a:rPr lang="en-US" altLang="ko-KR" sz="1600" dirty="0"/>
              <a:t>(0)</a:t>
            </a:r>
            <a:r>
              <a:rPr lang="ko-KR" altLang="en-US" sz="1600" dirty="0"/>
              <a:t>과 종점</a:t>
            </a:r>
            <a:r>
              <a:rPr lang="en-US" altLang="ko-KR" sz="1600" dirty="0"/>
              <a:t>(N)</a:t>
            </a:r>
            <a:r>
              <a:rPr lang="ko-KR" altLang="en-US" sz="1600" dirty="0"/>
              <a:t>을 추가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인접한 정류장 사이의 거리가 </a:t>
            </a:r>
            <a:r>
              <a:rPr lang="en-US" altLang="ko-KR" sz="1600" dirty="0"/>
              <a:t>K</a:t>
            </a:r>
            <a:r>
              <a:rPr lang="ko-KR" altLang="en-US" sz="1600" dirty="0"/>
              <a:t>보다 크면 도착 불가능</a:t>
            </a:r>
            <a:endParaRPr lang="en-US" altLang="ko-KR" sz="1600" dirty="0"/>
          </a:p>
          <a:p>
            <a:r>
              <a:rPr lang="ko-KR" altLang="en-US" sz="1600" dirty="0"/>
              <a:t>현재위치 </a:t>
            </a:r>
            <a:r>
              <a:rPr lang="en-US" altLang="ko-KR" sz="1600" dirty="0"/>
              <a:t>+ K </a:t>
            </a:r>
            <a:r>
              <a:rPr lang="ko-KR" altLang="en-US" sz="1600" dirty="0"/>
              <a:t>를 벗어나는 정류장일 때 이전 정류장에서 충전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0" indent="0">
              <a:buNone/>
            </a:pPr>
            <a:endParaRPr lang="ko-KR" altLang="en-US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EADDB9-DB15-4BF0-976E-04A135A43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27445"/>
              </p:ext>
            </p:extLst>
          </p:nvPr>
        </p:nvGraphicFramePr>
        <p:xfrm>
          <a:off x="2734687" y="1454389"/>
          <a:ext cx="3479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5960">
                  <a:extLst>
                    <a:ext uri="{9D8B030D-6E8A-4147-A177-3AD203B41FA5}">
                      <a16:colId xmlns:a16="http://schemas.microsoft.com/office/drawing/2014/main" val="1263228775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3740545269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1645236591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4222907967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4571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43457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D681C5-E49F-4F2A-AF91-78AD5B54C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8094"/>
              </p:ext>
            </p:extLst>
          </p:nvPr>
        </p:nvGraphicFramePr>
        <p:xfrm>
          <a:off x="2057719" y="1833201"/>
          <a:ext cx="493395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10132349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26322877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4054526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64523659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22290796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150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408981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434571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97DCEC2-36A4-4EE6-A5AF-3987382DEA4A}"/>
              </a:ext>
            </a:extLst>
          </p:cNvPr>
          <p:cNvSpPr/>
          <p:nvPr/>
        </p:nvSpPr>
        <p:spPr>
          <a:xfrm>
            <a:off x="894302" y="2249857"/>
            <a:ext cx="1234707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/>
              <a:t>M + 2 = 7</a:t>
            </a:r>
            <a:endParaRPr lang="ko-KR" altLang="en-US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812AAF-E8EF-44C0-9A63-A819B3B71504}"/>
              </a:ext>
            </a:extLst>
          </p:cNvPr>
          <p:cNvSpPr/>
          <p:nvPr/>
        </p:nvSpPr>
        <p:spPr>
          <a:xfrm>
            <a:off x="894302" y="1477920"/>
            <a:ext cx="973335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/>
              <a:t>M = 5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DCB27C-370E-F5A5-5C53-0C66E33D1E82}"/>
              </a:ext>
            </a:extLst>
          </p:cNvPr>
          <p:cNvSpPr/>
          <p:nvPr/>
        </p:nvSpPr>
        <p:spPr>
          <a:xfrm>
            <a:off x="1501209" y="3438023"/>
            <a:ext cx="5653217" cy="31455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latin typeface="JetBrains Mono" panose="02000009000000000000" pitchFamily="49" charset="0"/>
              </a:rPr>
              <a:t>cur = 0		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#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버스 위치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</a:endParaRPr>
          </a:p>
          <a:p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  	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#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충전 회수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</a:endParaRP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for </a:t>
            </a:r>
            <a:r>
              <a:rPr lang="en-US" altLang="ko-KR" sz="1400" dirty="0" err="1">
                <a:latin typeface="JetBrains Mono" panose="02000009000000000000" pitchFamily="49" charset="0"/>
              </a:rPr>
              <a:t>i</a:t>
            </a:r>
            <a:r>
              <a:rPr lang="en-US" altLang="ko-KR" sz="1400" dirty="0">
                <a:latin typeface="JetBrains Mono" panose="02000009000000000000" pitchFamily="49" charset="0"/>
              </a:rPr>
              <a:t> in range(1, M + 2):  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  <a:ea typeface="Noto Sans" panose="020B0502040504020204" pitchFamily="34" charset="0"/>
              </a:rPr>
              <a:t># 1 to M+1</a:t>
            </a: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  <a:ea typeface="Noto Sans" panose="020B0502040504020204" pitchFamily="34" charset="0"/>
              </a:rPr>
              <a:t># 1.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도착 가능성 체크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  <a:ea typeface="Noto Sans" panose="020B0502040504020204" pitchFamily="34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if </a:t>
            </a:r>
            <a:r>
              <a:rPr lang="en-US" altLang="ko-KR" sz="1400" dirty="0" err="1">
                <a:latin typeface="JetBrains Mono" panose="02000009000000000000" pitchFamily="49" charset="0"/>
              </a:rPr>
              <a:t>arr</a:t>
            </a:r>
            <a:r>
              <a:rPr lang="en-US" altLang="ko-KR" sz="1400" dirty="0">
                <a:latin typeface="JetBrains Mono" panose="02000009000000000000" pitchFamily="49" charset="0"/>
              </a:rPr>
              <a:t>[</a:t>
            </a:r>
            <a:r>
              <a:rPr lang="en-US" altLang="ko-KR" sz="1400" dirty="0" err="1">
                <a:latin typeface="JetBrains Mono" panose="02000009000000000000" pitchFamily="49" charset="0"/>
              </a:rPr>
              <a:t>i</a:t>
            </a:r>
            <a:r>
              <a:rPr lang="en-US" altLang="ko-KR" sz="1400" dirty="0">
                <a:latin typeface="JetBrains Mono" panose="02000009000000000000" pitchFamily="49" charset="0"/>
              </a:rPr>
              <a:t>] – </a:t>
            </a:r>
            <a:r>
              <a:rPr lang="en-US" altLang="ko-KR" sz="1400" dirty="0" err="1">
                <a:latin typeface="JetBrains Mono" panose="02000009000000000000" pitchFamily="49" charset="0"/>
              </a:rPr>
              <a:t>arr</a:t>
            </a:r>
            <a:r>
              <a:rPr lang="en-US" altLang="ko-KR" sz="1400" dirty="0">
                <a:latin typeface="JetBrains Mono" panose="02000009000000000000" pitchFamily="49" charset="0"/>
              </a:rPr>
              <a:t>[i-1] &gt; K: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break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    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    if cur + K &lt; </a:t>
            </a:r>
            <a:r>
              <a:rPr lang="en-US" altLang="ko-KR" sz="1400" dirty="0" err="1">
                <a:latin typeface="JetBrains Mono" panose="02000009000000000000" pitchFamily="49" charset="0"/>
              </a:rPr>
              <a:t>arr</a:t>
            </a:r>
            <a:r>
              <a:rPr lang="en-US" altLang="ko-KR" sz="1400" dirty="0">
                <a:latin typeface="JetBrains Mono" panose="02000009000000000000" pitchFamily="49" charset="0"/>
              </a:rPr>
              <a:t>[</a:t>
            </a:r>
            <a:r>
              <a:rPr lang="en-US" altLang="ko-KR" sz="1400" dirty="0" err="1">
                <a:latin typeface="JetBrains Mono" panose="02000009000000000000" pitchFamily="49" charset="0"/>
              </a:rPr>
              <a:t>i</a:t>
            </a:r>
            <a:r>
              <a:rPr lang="en-US" altLang="ko-KR" sz="1400" dirty="0">
                <a:latin typeface="JetBrains Mono" panose="02000009000000000000" pitchFamily="49" charset="0"/>
              </a:rPr>
              <a:t>]: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cur = </a:t>
            </a:r>
            <a:r>
              <a:rPr lang="en-US" altLang="ko-KR" sz="1400" dirty="0" err="1">
                <a:latin typeface="JetBrains Mono" panose="02000009000000000000" pitchFamily="49" charset="0"/>
              </a:rPr>
              <a:t>arr</a:t>
            </a:r>
            <a:r>
              <a:rPr lang="en-US" altLang="ko-KR" sz="1400" dirty="0">
                <a:latin typeface="JetBrains Mono" panose="02000009000000000000" pitchFamily="49" charset="0"/>
              </a:rPr>
              <a:t>[i-1]   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  <a:ea typeface="Noto Sans" panose="020B0502040504020204" pitchFamily="34" charset="0"/>
              </a:rPr>
              <a:t>#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  <a:ea typeface="Noto Sans" panose="020B0502040504020204" pitchFamily="34" charset="0"/>
              </a:rPr>
              <a:t>이전 정류소에서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  <a:ea typeface="Noto Sans" panose="020B0502040504020204" pitchFamily="34" charset="0"/>
              </a:rPr>
              <a:t>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충전하기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  <a:ea typeface="Noto Sans" panose="020B0502040504020204" pitchFamily="34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+ 1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43925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0CE2-D551-5799-0D55-6912C43A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EE2AB-69A2-73E5-8CDA-3B410836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>
                <a:ea typeface="Noto Sans" panose="020B0502040504020204" pitchFamily="34" charset="0"/>
              </a:rPr>
              <a:t>2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E8087-673F-79B9-0A49-7F2EB34AC46C}"/>
              </a:ext>
            </a:extLst>
          </p:cNvPr>
          <p:cNvSpPr txBox="1"/>
          <p:nvPr/>
        </p:nvSpPr>
        <p:spPr>
          <a:xfrm>
            <a:off x="906445" y="1051403"/>
            <a:ext cx="539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JetBrains Mono" panose="02000009000000000000" pitchFamily="49" charset="0"/>
              </a:rPr>
              <a:t>현재 위치 </a:t>
            </a:r>
            <a:r>
              <a:rPr lang="en-US" altLang="ko-KR" dirty="0">
                <a:latin typeface="JetBrains Mono" panose="02000009000000000000" pitchFamily="49" charset="0"/>
              </a:rPr>
              <a:t>+ K </a:t>
            </a:r>
            <a:r>
              <a:rPr lang="ko-KR" altLang="en-US" dirty="0">
                <a:latin typeface="JetBrains Mono" panose="02000009000000000000" pitchFamily="49" charset="0"/>
              </a:rPr>
              <a:t>범위에서 가장 먼 충전소 찾기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2C61943-886A-B647-F892-C882ED0FBA5D}"/>
              </a:ext>
            </a:extLst>
          </p:cNvPr>
          <p:cNvSpPr/>
          <p:nvPr/>
        </p:nvSpPr>
        <p:spPr>
          <a:xfrm>
            <a:off x="906445" y="1502079"/>
            <a:ext cx="4700535" cy="36552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latin typeface="JetBrains Mono" panose="02000009000000000000" pitchFamily="49" charset="0"/>
              </a:rPr>
              <a:t>K, N, M</a:t>
            </a:r>
          </a:p>
          <a:p>
            <a:r>
              <a:rPr lang="en-US" altLang="ko-KR" sz="1400" dirty="0" err="1">
                <a:latin typeface="JetBrains Mono" panose="02000009000000000000" pitchFamily="49" charset="0"/>
              </a:rPr>
              <a:t>lst</a:t>
            </a:r>
            <a:r>
              <a:rPr lang="en-US" altLang="ko-KR" sz="1400" dirty="0">
                <a:latin typeface="JetBrains Mono" panose="02000009000000000000" pitchFamily="49" charset="0"/>
              </a:rPr>
              <a:t> = [1, 3, 5, 7, 9]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cur = 0		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#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버스 위치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</a:endParaRPr>
          </a:p>
          <a:p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  	</a:t>
            </a:r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# </a:t>
            </a:r>
            <a:r>
              <a:rPr lang="ko-KR" altLang="en-US" sz="1400" b="1" dirty="0">
                <a:solidFill>
                  <a:schemeClr val="accent6">
                    <a:lumMod val="50000"/>
                  </a:schemeClr>
                </a:solidFill>
                <a:latin typeface="JetBrains Mono" panose="02000009000000000000" pitchFamily="49" charset="0"/>
              </a:rPr>
              <a:t>충전 회수</a:t>
            </a:r>
            <a:endParaRPr lang="en-US" altLang="ko-KR" sz="1400" b="1" dirty="0">
              <a:solidFill>
                <a:schemeClr val="accent6">
                  <a:lumMod val="50000"/>
                </a:schemeClr>
              </a:solidFill>
              <a:latin typeface="JetBrains Mono" panose="02000009000000000000" pitchFamily="49" charset="0"/>
            </a:endParaRP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while cur + K &lt; N:	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for pos in range(cur + K, cur, -1):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if pos in </a:t>
            </a:r>
            <a:r>
              <a:rPr lang="en-US" altLang="ko-KR" sz="1400" dirty="0" err="1">
                <a:latin typeface="JetBrains Mono" panose="02000009000000000000" pitchFamily="49" charset="0"/>
              </a:rPr>
              <a:t>lst</a:t>
            </a:r>
            <a:r>
              <a:rPr lang="en-US" altLang="ko-KR" sz="1400" dirty="0">
                <a:latin typeface="JetBrains Mono" panose="02000009000000000000" pitchFamily="49" charset="0"/>
              </a:rPr>
              <a:t>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cur = pos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+ 1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break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else: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break	</a:t>
            </a:r>
          </a:p>
        </p:txBody>
      </p:sp>
    </p:spTree>
    <p:extLst>
      <p:ext uri="{BB962C8B-B14F-4D97-AF65-F5344CB8AC3E}">
        <p14:creationId xmlns:p14="http://schemas.microsoft.com/office/powerpoint/2010/main" val="1113127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C406-6259-43A1-931B-6A936921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>
                <a:ea typeface="Noto Sans" panose="020B0502040504020204" pitchFamily="34" charset="0"/>
              </a:rPr>
              <a:t>2</a:t>
            </a:r>
            <a:endParaRPr lang="ko-KR" altLang="en-US" sz="18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C4BEED3-2D39-470C-9584-1A0FC7292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99387"/>
              </p:ext>
            </p:extLst>
          </p:nvPr>
        </p:nvGraphicFramePr>
        <p:xfrm>
          <a:off x="1033445" y="1553574"/>
          <a:ext cx="7073904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5909">
                  <a:extLst>
                    <a:ext uri="{9D8B030D-6E8A-4147-A177-3AD203B41FA5}">
                      <a16:colId xmlns:a16="http://schemas.microsoft.com/office/drawing/2014/main" val="276968958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4692713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7151620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229070450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654122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70569590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50960383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77634086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25319908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811410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09781874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35718833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b="0" kern="100" baseline="0" dirty="0">
                          <a:solidFill>
                            <a:schemeClr val="tx1"/>
                          </a:solidFill>
                          <a:effectLst/>
                          <a:latin typeface="Noto Sans" panose="020B0502040504020204" pitchFamily="34" charset="0"/>
                          <a:cs typeface="Noto Sans" panose="020B0502040504020204" pitchFamily="34" charset="0"/>
                        </a:rPr>
                        <a:t>정류장</a:t>
                      </a:r>
                      <a:endParaRPr lang="ko-KR" sz="1600" b="0" kern="100" baseline="0" dirty="0">
                        <a:solidFill>
                          <a:schemeClr val="tx1"/>
                        </a:solidFill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0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2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3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4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5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6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7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8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9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10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88614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b="0" kern="100" baseline="0" dirty="0">
                          <a:solidFill>
                            <a:schemeClr val="tx1"/>
                          </a:solidFill>
                          <a:effectLst/>
                        </a:rPr>
                        <a:t>충전기</a:t>
                      </a:r>
                      <a:endParaRPr lang="ko-KR" sz="1600" b="0" kern="100" baseline="0" dirty="0">
                        <a:solidFill>
                          <a:schemeClr val="tx1"/>
                        </a:solidFill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775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B2AA9C-C73D-42BC-8D17-F59A891B1779}"/>
              </a:ext>
            </a:extLst>
          </p:cNvPr>
          <p:cNvSpPr txBox="1"/>
          <p:nvPr/>
        </p:nvSpPr>
        <p:spPr>
          <a:xfrm>
            <a:off x="906445" y="1051403"/>
            <a:ext cx="539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JetBrains Mono" panose="02000009000000000000" pitchFamily="49" charset="0"/>
              </a:rPr>
              <a:t>현재 위치 </a:t>
            </a:r>
            <a:r>
              <a:rPr lang="en-US" altLang="ko-KR" dirty="0">
                <a:latin typeface="JetBrains Mono" panose="02000009000000000000" pitchFamily="49" charset="0"/>
              </a:rPr>
              <a:t>+ K </a:t>
            </a:r>
            <a:r>
              <a:rPr lang="ko-KR" altLang="en-US" dirty="0">
                <a:latin typeface="JetBrains Mono" panose="02000009000000000000" pitchFamily="49" charset="0"/>
              </a:rPr>
              <a:t>범위에서 가장 먼 충전소 찾기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2441022-95D0-4D83-9853-AD8E30239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54957"/>
              </p:ext>
            </p:extLst>
          </p:nvPr>
        </p:nvGraphicFramePr>
        <p:xfrm>
          <a:off x="1356248" y="2390505"/>
          <a:ext cx="1124268" cy="552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468">
                  <a:extLst>
                    <a:ext uri="{9D8B030D-6E8A-4147-A177-3AD203B41FA5}">
                      <a16:colId xmlns:a16="http://schemas.microsoft.com/office/drawing/2014/main" val="413500361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99097597"/>
                    </a:ext>
                  </a:extLst>
                </a:gridCol>
              </a:tblGrid>
              <a:tr h="276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cur</a:t>
                      </a:r>
                      <a:endParaRPr lang="ko-KR" altLang="en-US" sz="1200" baseline="0" dirty="0">
                        <a:latin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0</a:t>
                      </a:r>
                      <a:endParaRPr lang="ko-KR" altLang="en-US" sz="1200" baseline="0" dirty="0">
                        <a:latin typeface="JetBrains Mono" panose="02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415650"/>
                  </a:ext>
                </a:extLst>
              </a:tr>
              <a:tr h="276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 err="1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ans</a:t>
                      </a:r>
                      <a:endParaRPr lang="ko-KR" altLang="en-US" sz="1200" baseline="0" dirty="0">
                        <a:latin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0</a:t>
                      </a:r>
                      <a:endParaRPr lang="ko-KR" altLang="en-US" sz="1200" baseline="0" dirty="0">
                        <a:latin typeface="JetBrains Mono" panose="02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12202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E612623-C0E2-468D-904C-83761D5C0C92}"/>
              </a:ext>
            </a:extLst>
          </p:cNvPr>
          <p:cNvCxnSpPr>
            <a:cxnSpLocks/>
          </p:cNvCxnSpPr>
          <p:nvPr/>
        </p:nvCxnSpPr>
        <p:spPr>
          <a:xfrm flipH="1">
            <a:off x="2480516" y="2666538"/>
            <a:ext cx="168982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F073A7C-74DF-4F04-929B-CDCE1E977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994529"/>
              </p:ext>
            </p:extLst>
          </p:nvPr>
        </p:nvGraphicFramePr>
        <p:xfrm>
          <a:off x="3040045" y="2977179"/>
          <a:ext cx="1130300" cy="552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413500361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99097597"/>
                    </a:ext>
                  </a:extLst>
                </a:gridCol>
              </a:tblGrid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cur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3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415650"/>
                  </a:ext>
                </a:extLst>
              </a:tr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aseline="0" dirty="0" err="1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ans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1220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21D1E5C-7B72-441C-BC25-358AF0D8A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40716"/>
              </p:ext>
            </p:extLst>
          </p:nvPr>
        </p:nvGraphicFramePr>
        <p:xfrm>
          <a:off x="4170345" y="3690546"/>
          <a:ext cx="1130300" cy="552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413500361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99097597"/>
                    </a:ext>
                  </a:extLst>
                </a:gridCol>
              </a:tblGrid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cur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5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415650"/>
                  </a:ext>
                </a:extLst>
              </a:tr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aseline="0" dirty="0" err="1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ans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2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12202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4E2B902-B9AA-4948-B30F-4ECBAED06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35145"/>
              </p:ext>
            </p:extLst>
          </p:nvPr>
        </p:nvGraphicFramePr>
        <p:xfrm>
          <a:off x="5300645" y="4400594"/>
          <a:ext cx="1130300" cy="552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413500361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99097597"/>
                    </a:ext>
                  </a:extLst>
                </a:gridCol>
              </a:tblGrid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cur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7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415650"/>
                  </a:ext>
                </a:extLst>
              </a:tr>
              <a:tr h="27603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aseline="0" dirty="0" err="1">
                          <a:latin typeface="JetBrains Mono" panose="02000009000000000000" pitchFamily="49" charset="0"/>
                          <a:ea typeface="Noto Sans" panose="020B0502040504020204" pitchFamily="34" charset="0"/>
                        </a:rPr>
                        <a:t>ans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3</a:t>
                      </a: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12202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A61FCD8-9440-4C20-AA90-F558667B649B}"/>
              </a:ext>
            </a:extLst>
          </p:cNvPr>
          <p:cNvCxnSpPr>
            <a:cxnSpLocks/>
          </p:cNvCxnSpPr>
          <p:nvPr/>
        </p:nvCxnSpPr>
        <p:spPr>
          <a:xfrm flipH="1" flipV="1">
            <a:off x="6430945" y="4676627"/>
            <a:ext cx="1676404" cy="24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AF7B51-5154-B425-C3B6-F17C9A126C31}"/>
              </a:ext>
            </a:extLst>
          </p:cNvPr>
          <p:cNvCxnSpPr>
            <a:cxnSpLocks/>
          </p:cNvCxnSpPr>
          <p:nvPr/>
        </p:nvCxnSpPr>
        <p:spPr>
          <a:xfrm flipH="1">
            <a:off x="4170345" y="3248564"/>
            <a:ext cx="168982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75E4962-758B-8D47-4D1D-425F5F0829BB}"/>
              </a:ext>
            </a:extLst>
          </p:cNvPr>
          <p:cNvCxnSpPr>
            <a:cxnSpLocks/>
          </p:cNvCxnSpPr>
          <p:nvPr/>
        </p:nvCxnSpPr>
        <p:spPr>
          <a:xfrm flipH="1">
            <a:off x="5300645" y="3966579"/>
            <a:ext cx="168982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5E5E628-A648-B2D2-E78F-10A2DC8599C5}"/>
              </a:ext>
            </a:extLst>
          </p:cNvPr>
          <p:cNvCxnSpPr/>
          <p:nvPr/>
        </p:nvCxnSpPr>
        <p:spPr>
          <a:xfrm>
            <a:off x="4170345" y="2300052"/>
            <a:ext cx="0" cy="6771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A2D9AC0-807B-E851-C826-60FD6B8F6520}"/>
              </a:ext>
            </a:extLst>
          </p:cNvPr>
          <p:cNvCxnSpPr>
            <a:cxnSpLocks/>
          </p:cNvCxnSpPr>
          <p:nvPr/>
        </p:nvCxnSpPr>
        <p:spPr>
          <a:xfrm>
            <a:off x="5872207" y="2327974"/>
            <a:ext cx="0" cy="920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4FEA8FE-CB93-64C9-37C2-75AC7A2DD883}"/>
              </a:ext>
            </a:extLst>
          </p:cNvPr>
          <p:cNvCxnSpPr>
            <a:cxnSpLocks/>
          </p:cNvCxnSpPr>
          <p:nvPr/>
        </p:nvCxnSpPr>
        <p:spPr>
          <a:xfrm>
            <a:off x="6990474" y="2327974"/>
            <a:ext cx="0" cy="16386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8A14DAE-7B3A-5311-E732-7CF7AE393494}"/>
              </a:ext>
            </a:extLst>
          </p:cNvPr>
          <p:cNvCxnSpPr>
            <a:cxnSpLocks/>
          </p:cNvCxnSpPr>
          <p:nvPr/>
        </p:nvCxnSpPr>
        <p:spPr>
          <a:xfrm>
            <a:off x="8085748" y="2300052"/>
            <a:ext cx="0" cy="2376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45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062A2-DA56-E589-5D88-135E4D2F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349E3-9CAD-7F12-4318-3D91B0D4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>
                <a:ea typeface="Noto Sans" panose="020B0502040504020204" pitchFamily="34" charset="0"/>
              </a:rPr>
              <a:t>2</a:t>
            </a:r>
            <a:endParaRPr lang="ko-KR" altLang="en-US" sz="18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16070EA-CC00-BBE0-7456-CDC0EC09F3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33445" y="1553574"/>
          <a:ext cx="7073904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5909">
                  <a:extLst>
                    <a:ext uri="{9D8B030D-6E8A-4147-A177-3AD203B41FA5}">
                      <a16:colId xmlns:a16="http://schemas.microsoft.com/office/drawing/2014/main" val="276968958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4692713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7151620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229070450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654122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70569590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50960383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77634086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25319908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811410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09781874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35718833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b="0" kern="100" baseline="0" dirty="0">
                          <a:solidFill>
                            <a:schemeClr val="tx1"/>
                          </a:solidFill>
                          <a:effectLst/>
                          <a:latin typeface="Noto Sans" panose="020B0502040504020204" pitchFamily="34" charset="0"/>
                          <a:cs typeface="Noto Sans" panose="020B0502040504020204" pitchFamily="34" charset="0"/>
                        </a:rPr>
                        <a:t>정류장</a:t>
                      </a:r>
                      <a:endParaRPr lang="ko-KR" sz="1600" b="0" kern="100" baseline="0" dirty="0">
                        <a:solidFill>
                          <a:schemeClr val="tx1"/>
                        </a:solidFill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0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2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3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4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5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6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7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8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9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10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88614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600" b="0" kern="100" baseline="0" dirty="0">
                          <a:solidFill>
                            <a:schemeClr val="tx1"/>
                          </a:solidFill>
                          <a:effectLst/>
                        </a:rPr>
                        <a:t>충전기</a:t>
                      </a:r>
                      <a:endParaRPr lang="ko-KR" sz="1600" b="0" kern="100" baseline="0" dirty="0">
                        <a:solidFill>
                          <a:schemeClr val="tx1"/>
                        </a:solidFill>
                        <a:effectLst/>
                        <a:latin typeface="Noto Sans" panose="020B050204050402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1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Noto Sans" panose="020B0502040504020204" pitchFamily="34" charset="0"/>
                          <a:cs typeface="+mn-cs"/>
                        </a:rPr>
                        <a:t> </a:t>
                      </a:r>
                      <a:endParaRPr lang="ko-KR" altLang="en-US" sz="16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775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B49AB4-E196-B15E-A4EA-8E671139F174}"/>
              </a:ext>
            </a:extLst>
          </p:cNvPr>
          <p:cNvSpPr txBox="1"/>
          <p:nvPr/>
        </p:nvSpPr>
        <p:spPr>
          <a:xfrm>
            <a:off x="906445" y="1051403"/>
            <a:ext cx="539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JetBrains Mono" panose="02000009000000000000" pitchFamily="49" charset="0"/>
              </a:rPr>
              <a:t>현재 위치 </a:t>
            </a:r>
            <a:r>
              <a:rPr lang="en-US" altLang="ko-KR" dirty="0">
                <a:latin typeface="JetBrains Mono" panose="02000009000000000000" pitchFamily="49" charset="0"/>
              </a:rPr>
              <a:t>+ K </a:t>
            </a:r>
            <a:r>
              <a:rPr lang="ko-KR" altLang="en-US" dirty="0">
                <a:latin typeface="JetBrains Mono" panose="02000009000000000000" pitchFamily="49" charset="0"/>
              </a:rPr>
              <a:t>범위에서 가장 먼 충전소 찾기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B74260A-6FE0-E7F4-4A53-F0376852299C}"/>
              </a:ext>
            </a:extLst>
          </p:cNvPr>
          <p:cNvSpPr/>
          <p:nvPr/>
        </p:nvSpPr>
        <p:spPr>
          <a:xfrm>
            <a:off x="1402145" y="2524489"/>
            <a:ext cx="4747446" cy="36552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err="1">
                <a:latin typeface="JetBrains Mono" panose="02000009000000000000" pitchFamily="49" charset="0"/>
              </a:rPr>
              <a:t>arr</a:t>
            </a:r>
            <a:r>
              <a:rPr lang="en-US" altLang="ko-KR" sz="1400" dirty="0">
                <a:latin typeface="JetBrains Mono" panose="02000009000000000000" pitchFamily="49" charset="0"/>
              </a:rPr>
              <a:t> = [1, 3, 5, 7, 9]</a:t>
            </a:r>
          </a:p>
          <a:p>
            <a:r>
              <a:rPr lang="en-US" altLang="ko-KR" sz="1400" dirty="0" err="1">
                <a:latin typeface="JetBrains Mono" panose="02000009000000000000" pitchFamily="49" charset="0"/>
              </a:rPr>
              <a:t>lst</a:t>
            </a:r>
            <a:r>
              <a:rPr lang="en-US" altLang="ko-KR" sz="1400" dirty="0">
                <a:latin typeface="JetBrains Mono" panose="02000009000000000000" pitchFamily="49" charset="0"/>
              </a:rPr>
              <a:t> = [0, 1, 0, 1, 0, 1, 0, 1, 0, 1, 0]</a:t>
            </a: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cur, 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0, 0   </a:t>
            </a: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while cur + K &lt; N:	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for pos in range(cur + K, cur, -1):</a:t>
            </a:r>
          </a:p>
          <a:p>
            <a:endParaRPr lang="en-US" altLang="ko-KR" sz="1400" dirty="0">
              <a:latin typeface="JetBrains Mono" panose="02000009000000000000" pitchFamily="49" charset="0"/>
            </a:endParaRP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</a:t>
            </a:r>
            <a:r>
              <a:rPr lang="en-US" altLang="ko-KR" sz="1400" dirty="0">
                <a:solidFill>
                  <a:srgbClr val="FF0000"/>
                </a:solidFill>
                <a:latin typeface="JetBrains Mono" panose="02000009000000000000" pitchFamily="49" charset="0"/>
              </a:rPr>
              <a:t>if </a:t>
            </a:r>
            <a:r>
              <a:rPr lang="en-US" altLang="ko-KR" sz="1400" dirty="0" err="1">
                <a:solidFill>
                  <a:srgbClr val="FF0000"/>
                </a:solidFill>
                <a:latin typeface="JetBrains Mono" panose="02000009000000000000" pitchFamily="49" charset="0"/>
              </a:rPr>
              <a:t>lst</a:t>
            </a:r>
            <a:r>
              <a:rPr lang="en-US" altLang="ko-KR" sz="1400" dirty="0">
                <a:solidFill>
                  <a:srgbClr val="FF0000"/>
                </a:solidFill>
                <a:latin typeface="JetBrains Mono" panose="02000009000000000000" pitchFamily="49" charset="0"/>
              </a:rPr>
              <a:t>[pos] == 1: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cur = pos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+ 1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	break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else: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</a:t>
            </a:r>
            <a:r>
              <a:rPr lang="en-US" altLang="ko-KR" sz="1400" dirty="0" err="1">
                <a:latin typeface="JetBrains Mono" panose="02000009000000000000" pitchFamily="49" charset="0"/>
              </a:rPr>
              <a:t>ans</a:t>
            </a:r>
            <a:r>
              <a:rPr lang="en-US" altLang="ko-KR" sz="1400" dirty="0">
                <a:latin typeface="JetBrains Mono" panose="02000009000000000000" pitchFamily="49" charset="0"/>
              </a:rPr>
              <a:t> = 0</a:t>
            </a:r>
          </a:p>
          <a:p>
            <a:r>
              <a:rPr lang="en-US" altLang="ko-KR" sz="1400" dirty="0">
                <a:latin typeface="JetBrains Mono" panose="02000009000000000000" pitchFamily="49" charset="0"/>
              </a:rPr>
              <a:t>		break	</a:t>
            </a:r>
          </a:p>
        </p:txBody>
      </p:sp>
    </p:spTree>
    <p:extLst>
      <p:ext uri="{BB962C8B-B14F-4D97-AF65-F5344CB8AC3E}">
        <p14:creationId xmlns:p14="http://schemas.microsoft.com/office/powerpoint/2010/main" val="1699756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80FBE2-7B44-40AE-97B1-4A7DA2A48E48}"/>
              </a:ext>
            </a:extLst>
          </p:cNvPr>
          <p:cNvGraphicFramePr>
            <a:graphicFrameLocks noGrp="1"/>
          </p:cNvGraphicFramePr>
          <p:nvPr/>
        </p:nvGraphicFramePr>
        <p:xfrm>
          <a:off x="1951840" y="1785456"/>
          <a:ext cx="5694953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723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8" name="제목 1">
            <a:extLst>
              <a:ext uri="{FF2B5EF4-FFF2-40B4-BE49-F238E27FC236}">
                <a16:creationId xmlns:a16="http://schemas.microsoft.com/office/drawing/2014/main" id="{176A4525-B78E-4304-9E0A-B2042688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4933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3</a:t>
            </a:r>
            <a:endParaRPr lang="ko-KR" altLang="en-US" sz="18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8C58000-2336-496C-94BC-7470847EC4DA}"/>
              </a:ext>
            </a:extLst>
          </p:cNvPr>
          <p:cNvGraphicFramePr>
            <a:graphicFrameLocks noGrp="1"/>
          </p:cNvGraphicFramePr>
          <p:nvPr/>
        </p:nvGraphicFramePr>
        <p:xfrm>
          <a:off x="2654300" y="1132093"/>
          <a:ext cx="3479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5960">
                  <a:extLst>
                    <a:ext uri="{9D8B030D-6E8A-4147-A177-3AD203B41FA5}">
                      <a16:colId xmlns:a16="http://schemas.microsoft.com/office/drawing/2014/main" val="1263228775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3740545269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1645236591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4222907967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4571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43457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DA43C1-C82F-4304-8038-DEB8749E33D2}"/>
              </a:ext>
            </a:extLst>
          </p:cNvPr>
          <p:cNvSpPr/>
          <p:nvPr/>
        </p:nvSpPr>
        <p:spPr>
          <a:xfrm>
            <a:off x="1432899" y="1184573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충전소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503E933-36E0-4832-A0D2-DD998E3A1194}"/>
              </a:ext>
            </a:extLst>
          </p:cNvPr>
          <p:cNvSpPr/>
          <p:nvPr/>
        </p:nvSpPr>
        <p:spPr>
          <a:xfrm>
            <a:off x="628650" y="2055938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=0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946F95-AED8-4A5B-B1CF-1281F455A015}"/>
              </a:ext>
            </a:extLst>
          </p:cNvPr>
          <p:cNvSpPr/>
          <p:nvPr/>
        </p:nvSpPr>
        <p:spPr>
          <a:xfrm>
            <a:off x="628650" y="2927303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=1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9469F38-A292-418A-96DF-DE7EFB07D0AF}"/>
              </a:ext>
            </a:extLst>
          </p:cNvPr>
          <p:cNvSpPr/>
          <p:nvPr/>
        </p:nvSpPr>
        <p:spPr>
          <a:xfrm>
            <a:off x="628650" y="3798668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=3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4425DBD-6484-2787-9524-F8F38D75AB39}"/>
              </a:ext>
            </a:extLst>
          </p:cNvPr>
          <p:cNvGraphicFramePr>
            <a:graphicFrameLocks noGrp="1"/>
          </p:cNvGraphicFramePr>
          <p:nvPr/>
        </p:nvGraphicFramePr>
        <p:xfrm>
          <a:off x="1951839" y="2680235"/>
          <a:ext cx="5694953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723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ko-KR" alt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2F5A18-04CB-AFFC-8FBC-0DA153577097}"/>
              </a:ext>
            </a:extLst>
          </p:cNvPr>
          <p:cNvGraphicFramePr>
            <a:graphicFrameLocks noGrp="1"/>
          </p:cNvGraphicFramePr>
          <p:nvPr/>
        </p:nvGraphicFramePr>
        <p:xfrm>
          <a:off x="1951839" y="3575014"/>
          <a:ext cx="5694953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723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C1DF85E-070F-73F2-EF4A-386A690F32CF}"/>
              </a:ext>
            </a:extLst>
          </p:cNvPr>
          <p:cNvSpPr/>
          <p:nvPr/>
        </p:nvSpPr>
        <p:spPr>
          <a:xfrm>
            <a:off x="628650" y="4670033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=5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A721298-0B23-CC99-C0A5-B302EDBA960C}"/>
              </a:ext>
            </a:extLst>
          </p:cNvPr>
          <p:cNvSpPr/>
          <p:nvPr/>
        </p:nvSpPr>
        <p:spPr>
          <a:xfrm>
            <a:off x="628650" y="5541398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=7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20D8D93-39EC-B5CB-28B2-A773BDEA7F84}"/>
              </a:ext>
            </a:extLst>
          </p:cNvPr>
          <p:cNvGraphicFramePr>
            <a:graphicFrameLocks noGrp="1"/>
          </p:cNvGraphicFramePr>
          <p:nvPr/>
        </p:nvGraphicFramePr>
        <p:xfrm>
          <a:off x="1951839" y="4469793"/>
          <a:ext cx="5694953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723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F9BCAB2-6464-47C1-B12E-764A9502CBEC}"/>
              </a:ext>
            </a:extLst>
          </p:cNvPr>
          <p:cNvGraphicFramePr>
            <a:graphicFrameLocks noGrp="1"/>
          </p:cNvGraphicFramePr>
          <p:nvPr/>
        </p:nvGraphicFramePr>
        <p:xfrm>
          <a:off x="1951838" y="5364572"/>
          <a:ext cx="5694953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723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17723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436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BDC4EB0-AB22-428D-8074-563EB40E3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80FBE2-7B44-40AE-97B1-4A7DA2A48E48}"/>
              </a:ext>
            </a:extLst>
          </p:cNvPr>
          <p:cNvGraphicFramePr>
            <a:graphicFrameLocks noGrp="1"/>
          </p:cNvGraphicFramePr>
          <p:nvPr/>
        </p:nvGraphicFramePr>
        <p:xfrm>
          <a:off x="1938095" y="2374119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8" name="제목 1">
            <a:extLst>
              <a:ext uri="{FF2B5EF4-FFF2-40B4-BE49-F238E27FC236}">
                <a16:creationId xmlns:a16="http://schemas.microsoft.com/office/drawing/2014/main" id="{176A4525-B78E-4304-9E0A-B2042688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4933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해결방법 </a:t>
            </a:r>
            <a:r>
              <a:rPr lang="en-US" altLang="ko-KR" sz="1800" dirty="0"/>
              <a:t>3</a:t>
            </a:r>
            <a:endParaRPr lang="ko-KR" altLang="en-US" sz="18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8C58000-2336-496C-94BC-7470847EC4DA}"/>
              </a:ext>
            </a:extLst>
          </p:cNvPr>
          <p:cNvGraphicFramePr>
            <a:graphicFrameLocks noGrp="1"/>
          </p:cNvGraphicFramePr>
          <p:nvPr/>
        </p:nvGraphicFramePr>
        <p:xfrm>
          <a:off x="2654300" y="1739900"/>
          <a:ext cx="3479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5960">
                  <a:extLst>
                    <a:ext uri="{9D8B030D-6E8A-4147-A177-3AD203B41FA5}">
                      <a16:colId xmlns:a16="http://schemas.microsoft.com/office/drawing/2014/main" val="1263228775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3740545269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1645236591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4222907967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4571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43457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DA43C1-C82F-4304-8038-DEB8749E33D2}"/>
              </a:ext>
            </a:extLst>
          </p:cNvPr>
          <p:cNvSpPr/>
          <p:nvPr/>
        </p:nvSpPr>
        <p:spPr>
          <a:xfrm>
            <a:off x="1432900" y="1726463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 </a:t>
            </a:r>
            <a:r>
              <a:rPr lang="ko-KR" altLang="en-US" dirty="0"/>
              <a:t>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503E933-36E0-4832-A0D2-DD998E3A1194}"/>
              </a:ext>
            </a:extLst>
          </p:cNvPr>
          <p:cNvSpPr/>
          <p:nvPr/>
        </p:nvSpPr>
        <p:spPr>
          <a:xfrm>
            <a:off x="614906" y="2644601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=0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946F95-AED8-4A5B-B1CF-1281F455A015}"/>
              </a:ext>
            </a:extLst>
          </p:cNvPr>
          <p:cNvSpPr/>
          <p:nvPr/>
        </p:nvSpPr>
        <p:spPr>
          <a:xfrm>
            <a:off x="614906" y="3665506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=1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67CEC5B-3003-4157-B019-49F514C7B9D1}"/>
              </a:ext>
            </a:extLst>
          </p:cNvPr>
          <p:cNvGraphicFramePr>
            <a:graphicFrameLocks noGrp="1"/>
          </p:cNvGraphicFramePr>
          <p:nvPr/>
        </p:nvGraphicFramePr>
        <p:xfrm>
          <a:off x="1938094" y="3450011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9469F38-A292-418A-96DF-DE7EFB07D0AF}"/>
              </a:ext>
            </a:extLst>
          </p:cNvPr>
          <p:cNvSpPr/>
          <p:nvPr/>
        </p:nvSpPr>
        <p:spPr>
          <a:xfrm>
            <a:off x="614906" y="4568974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=3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7ECF09C-65EE-4E58-9455-6ACCBD657FFA}"/>
              </a:ext>
            </a:extLst>
          </p:cNvPr>
          <p:cNvGraphicFramePr>
            <a:graphicFrameLocks noGrp="1"/>
          </p:cNvGraphicFramePr>
          <p:nvPr/>
        </p:nvGraphicFramePr>
        <p:xfrm>
          <a:off x="1938094" y="4420628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EA71666-0939-44DD-851A-2F7C66CA46E6}"/>
              </a:ext>
            </a:extLst>
          </p:cNvPr>
          <p:cNvSpPr/>
          <p:nvPr/>
        </p:nvSpPr>
        <p:spPr>
          <a:xfrm>
            <a:off x="628650" y="5580921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출발</a:t>
            </a:r>
            <a:r>
              <a:rPr lang="en-US" altLang="ko-KR" dirty="0"/>
              <a:t>=7</a:t>
            </a:r>
            <a:endParaRPr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894D7A2-B7FD-4A3B-A298-273D577F224E}"/>
              </a:ext>
            </a:extLst>
          </p:cNvPr>
          <p:cNvGraphicFramePr>
            <a:graphicFrameLocks noGrp="1"/>
          </p:cNvGraphicFramePr>
          <p:nvPr/>
        </p:nvGraphicFramePr>
        <p:xfrm>
          <a:off x="1951838" y="5432575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0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AAEF5F0-47D5-405F-9544-E4F98FE74205}"/>
              </a:ext>
            </a:extLst>
          </p:cNvPr>
          <p:cNvSpPr/>
          <p:nvPr/>
        </p:nvSpPr>
        <p:spPr>
          <a:xfrm>
            <a:off x="825500" y="267575"/>
            <a:ext cx="3746500" cy="782899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N = 10</a:t>
            </a:r>
          </a:p>
          <a:p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M=5 </a:t>
            </a:r>
            <a:r>
              <a:rPr lang="ko-KR" altLang="en-US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개 충전소</a:t>
            </a:r>
            <a:endParaRPr lang="en-US" altLang="ko-KR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K=3</a:t>
            </a:r>
            <a:endParaRPr lang="ko-KR" altLang="en-US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2C3C39-F467-49F4-A99F-0892CE374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61933"/>
              </p:ext>
            </p:extLst>
          </p:nvPr>
        </p:nvGraphicFramePr>
        <p:xfrm>
          <a:off x="1652784" y="2015082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</a:rPr>
                        <a:t> 0</a:t>
                      </a: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78FFB3-3BBE-4114-A2B0-73EA54C0A5CB}"/>
              </a:ext>
            </a:extLst>
          </p:cNvPr>
          <p:cNvSpPr/>
          <p:nvPr/>
        </p:nvSpPr>
        <p:spPr>
          <a:xfrm>
            <a:off x="482559" y="2235276"/>
            <a:ext cx="1037878" cy="30609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명조" panose="02020603020101020101" pitchFamily="18" charset="-127"/>
                <a:ea typeface="나눔명조" panose="02020603020101020101" pitchFamily="18" charset="-127"/>
              </a:rPr>
              <a:t>출발</a:t>
            </a:r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=0</a:t>
            </a:r>
            <a:endParaRPr lang="ko-KR" altLang="en-US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BD8321-2C26-454C-9927-8D4719CA1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919537"/>
              </p:ext>
            </p:extLst>
          </p:nvPr>
        </p:nvGraphicFramePr>
        <p:xfrm>
          <a:off x="1652784" y="5587332"/>
          <a:ext cx="6187995" cy="746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545">
                  <a:extLst>
                    <a:ext uri="{9D8B030D-6E8A-4147-A177-3AD203B41FA5}">
                      <a16:colId xmlns:a16="http://schemas.microsoft.com/office/drawing/2014/main" val="245942723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895908661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35221359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152486119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187621289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38422958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3720962322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556901954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4100616397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467434773"/>
                    </a:ext>
                  </a:extLst>
                </a:gridCol>
                <a:gridCol w="562545">
                  <a:extLst>
                    <a:ext uri="{9D8B030D-6E8A-4147-A177-3AD203B41FA5}">
                      <a16:colId xmlns:a16="http://schemas.microsoft.com/office/drawing/2014/main" val="2657371370"/>
                    </a:ext>
                  </a:extLst>
                </a:gridCol>
              </a:tblGrid>
              <a:tr h="379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</a:t>
                      </a:r>
                      <a:endParaRPr lang="ko-KR" sz="16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4163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6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1878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B858CD1-B2DD-4569-A7C2-D458B38E0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43766"/>
              </p:ext>
            </p:extLst>
          </p:nvPr>
        </p:nvGraphicFramePr>
        <p:xfrm>
          <a:off x="825500" y="4842918"/>
          <a:ext cx="3479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5960">
                  <a:extLst>
                    <a:ext uri="{9D8B030D-6E8A-4147-A177-3AD203B41FA5}">
                      <a16:colId xmlns:a16="http://schemas.microsoft.com/office/drawing/2014/main" val="1263228775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3740545269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1645236591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4222907967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24571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43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126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Flatten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42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5F179-73F9-4595-8027-44113F91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해결 방법 </a:t>
            </a:r>
            <a:r>
              <a:rPr lang="en-US" altLang="ko-KR" sz="2000" dirty="0"/>
              <a:t>1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73341-2391-4576-A296-55CAFC271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리스트에서 최대값과 최소값을 찾는다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최대값은 </a:t>
            </a:r>
            <a:r>
              <a:rPr lang="en-US" altLang="ko-KR" dirty="0"/>
              <a:t>1 </a:t>
            </a:r>
            <a:r>
              <a:rPr lang="ko-KR" altLang="en-US" dirty="0"/>
              <a:t>빼고</a:t>
            </a:r>
            <a:r>
              <a:rPr lang="en-US" altLang="ko-KR" dirty="0"/>
              <a:t>, </a:t>
            </a:r>
            <a:r>
              <a:rPr lang="ko-KR" altLang="en-US" dirty="0"/>
              <a:t>최소값은 </a:t>
            </a:r>
            <a:r>
              <a:rPr lang="en-US" altLang="ko-KR" dirty="0"/>
              <a:t>1 </a:t>
            </a:r>
            <a:r>
              <a:rPr lang="ko-KR" altLang="en-US" dirty="0"/>
              <a:t>더한다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작업을 덤프 횟수 만큼 실행한다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최대값과 최소값을 찾아서 차차이를 계산한다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18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68208E9-B110-460E-9608-78E4690C0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401783"/>
              </p:ext>
            </p:extLst>
          </p:nvPr>
        </p:nvGraphicFramePr>
        <p:xfrm>
          <a:off x="512466" y="826250"/>
          <a:ext cx="3888720" cy="276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60">
                  <a:extLst>
                    <a:ext uri="{9D8B030D-6E8A-4147-A177-3AD203B41FA5}">
                      <a16:colId xmlns:a16="http://schemas.microsoft.com/office/drawing/2014/main" val="4011672863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2874183796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4194491962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2090434931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1965178801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309926927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3231589765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4223269374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453264018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321305374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2327649111"/>
                    </a:ext>
                  </a:extLst>
                </a:gridCol>
                <a:gridCol w="324060">
                  <a:extLst>
                    <a:ext uri="{9D8B030D-6E8A-4147-A177-3AD203B41FA5}">
                      <a16:colId xmlns:a16="http://schemas.microsoft.com/office/drawing/2014/main" val="427762211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9861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190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7578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2506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4119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596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2753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58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3055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1133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17218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ADE732-69BA-43A2-BD62-1FAFE2CB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12693"/>
              </p:ext>
            </p:extLst>
          </p:nvPr>
        </p:nvGraphicFramePr>
        <p:xfrm>
          <a:off x="4572001" y="1055529"/>
          <a:ext cx="3979151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741">
                  <a:extLst>
                    <a:ext uri="{9D8B030D-6E8A-4147-A177-3AD203B41FA5}">
                      <a16:colId xmlns:a16="http://schemas.microsoft.com/office/drawing/2014/main" val="2601243411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93189093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736724749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495647096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757090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4183064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55984045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80438059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57046794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616325960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27586538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3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2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2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3180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2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3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4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5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6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7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8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9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</a:rPr>
                        <a:t>10</a:t>
                      </a:r>
                      <a:endParaRPr lang="ko-KR" altLang="en-US" sz="1400" b="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0341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3D5F3D-F41D-4E44-AD34-39DCB11800F8}"/>
              </a:ext>
            </a:extLst>
          </p:cNvPr>
          <p:cNvSpPr txBox="1"/>
          <p:nvPr/>
        </p:nvSpPr>
        <p:spPr>
          <a:xfrm>
            <a:off x="4572001" y="656973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u="sng" dirty="0">
                <a:latin typeface="+mj-ea"/>
                <a:ea typeface="+mj-ea"/>
              </a:rPr>
              <a:t>1. </a:t>
            </a:r>
            <a:r>
              <a:rPr lang="ko-KR" altLang="en-US" sz="1600" u="sng" dirty="0">
                <a:latin typeface="+mj-ea"/>
                <a:ea typeface="+mj-ea"/>
              </a:rPr>
              <a:t>빈도수 계산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8AF02-6A53-429A-9AFF-20B9287F409D}"/>
              </a:ext>
            </a:extLst>
          </p:cNvPr>
          <p:cNvSpPr txBox="1"/>
          <p:nvPr/>
        </p:nvSpPr>
        <p:spPr>
          <a:xfrm>
            <a:off x="4572000" y="1974235"/>
            <a:ext cx="1790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u="sng" dirty="0">
                <a:latin typeface="+mj-ea"/>
                <a:ea typeface="+mj-ea"/>
              </a:rPr>
              <a:t>2. </a:t>
            </a:r>
            <a:r>
              <a:rPr lang="ko-KR" altLang="en-US" sz="1600" u="sng" dirty="0">
                <a:latin typeface="+mj-ea"/>
                <a:ea typeface="+mj-ea"/>
              </a:rPr>
              <a:t>최대 최소 찾기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7198F98-EE11-4AED-96C7-010294C6E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657009"/>
              </p:ext>
            </p:extLst>
          </p:nvPr>
        </p:nvGraphicFramePr>
        <p:xfrm>
          <a:off x="4572000" y="2341766"/>
          <a:ext cx="3979151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741">
                  <a:extLst>
                    <a:ext uri="{9D8B030D-6E8A-4147-A177-3AD203B41FA5}">
                      <a16:colId xmlns:a16="http://schemas.microsoft.com/office/drawing/2014/main" val="2601243411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93189093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736724749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495647096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757090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4183064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55984045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80438059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57046794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616325960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27586538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3180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03414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5D2D7D8-9667-4FBC-8751-558DE8DDFB7F}"/>
              </a:ext>
            </a:extLst>
          </p:cNvPr>
          <p:cNvSpPr txBox="1"/>
          <p:nvPr/>
        </p:nvSpPr>
        <p:spPr>
          <a:xfrm>
            <a:off x="4572000" y="3119416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u="sng" dirty="0">
                <a:latin typeface="+mj-ea"/>
                <a:ea typeface="+mj-ea"/>
              </a:rPr>
              <a:t>3. </a:t>
            </a:r>
            <a:r>
              <a:rPr lang="ko-KR" altLang="en-US" sz="1600" u="sng" dirty="0">
                <a:latin typeface="+mj-ea"/>
                <a:ea typeface="+mj-ea"/>
              </a:rPr>
              <a:t>평탄화 작업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9A61D11-A3DB-4A26-9065-61EED1B3B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588216"/>
              </p:ext>
            </p:extLst>
          </p:nvPr>
        </p:nvGraphicFramePr>
        <p:xfrm>
          <a:off x="4572000" y="3628002"/>
          <a:ext cx="3979151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741">
                  <a:extLst>
                    <a:ext uri="{9D8B030D-6E8A-4147-A177-3AD203B41FA5}">
                      <a16:colId xmlns:a16="http://schemas.microsoft.com/office/drawing/2014/main" val="2601243411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93189093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736724749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2495647096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757090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4183064148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55984045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804380597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57046794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3616325960"/>
                    </a:ext>
                  </a:extLst>
                </a:gridCol>
                <a:gridCol w="361741">
                  <a:extLst>
                    <a:ext uri="{9D8B030D-6E8A-4147-A177-3AD203B41FA5}">
                      <a16:colId xmlns:a16="http://schemas.microsoft.com/office/drawing/2014/main" val="127586538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3180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034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26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</TotalTime>
  <Words>1866</Words>
  <Application>Microsoft Office PowerPoint</Application>
  <PresentationFormat>화면 슬라이드 쇼(4:3)</PresentationFormat>
  <Paragraphs>866</Paragraphs>
  <Slides>26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Noto Sans KR</vt:lpstr>
      <vt:lpstr>나눔명조</vt:lpstr>
      <vt:lpstr>맑은 고딕</vt:lpstr>
      <vt:lpstr>Arial</vt:lpstr>
      <vt:lpstr>Calibri</vt:lpstr>
      <vt:lpstr>Calibri Light</vt:lpstr>
      <vt:lpstr>JetBrains Mono</vt:lpstr>
      <vt:lpstr>Lucida Console</vt:lpstr>
      <vt:lpstr>Noto Sans</vt:lpstr>
      <vt:lpstr>Times New Roman</vt:lpstr>
      <vt:lpstr>Office 테마</vt:lpstr>
      <vt:lpstr>숫자 카드</vt:lpstr>
      <vt:lpstr>해결방법 1</vt:lpstr>
      <vt:lpstr>해결방법 1</vt:lpstr>
      <vt:lpstr>해결방법 1</vt:lpstr>
      <vt:lpstr>구간합</vt:lpstr>
      <vt:lpstr>PowerPoint 프레젠테이션</vt:lpstr>
      <vt:lpstr>PowerPoint 프레젠테이션</vt:lpstr>
      <vt:lpstr>PowerPoint 프레젠테이션</vt:lpstr>
      <vt:lpstr>gravity</vt:lpstr>
      <vt:lpstr>PowerPoint 프레젠테이션</vt:lpstr>
      <vt:lpstr>PowerPoint 프레젠테이션</vt:lpstr>
      <vt:lpstr>PowerPoint 프레젠테이션</vt:lpstr>
      <vt:lpstr>View</vt:lpstr>
      <vt:lpstr>PowerPoint 프레젠테이션</vt:lpstr>
      <vt:lpstr>전기 버스</vt:lpstr>
      <vt:lpstr>PowerPoint 프레젠테이션</vt:lpstr>
      <vt:lpstr>해결방법 1</vt:lpstr>
      <vt:lpstr>해결방법 2</vt:lpstr>
      <vt:lpstr>해결방법 2</vt:lpstr>
      <vt:lpstr>해결방법 2</vt:lpstr>
      <vt:lpstr>해결방법 3</vt:lpstr>
      <vt:lpstr>해결방법 3</vt:lpstr>
      <vt:lpstr>PowerPoint 프레젠테이션</vt:lpstr>
      <vt:lpstr>Flatten</vt:lpstr>
      <vt:lpstr>해결 방법 1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박영준</dc:creator>
  <cp:lastModifiedBy>종윤 정</cp:lastModifiedBy>
  <cp:revision>59</cp:revision>
  <dcterms:created xsi:type="dcterms:W3CDTF">2018-01-08T07:11:57Z</dcterms:created>
  <dcterms:modified xsi:type="dcterms:W3CDTF">2026-02-03T12:08:50Z</dcterms:modified>
</cp:coreProperties>
</file>